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1" r:id="rId3"/>
    <p:sldId id="262" r:id="rId4"/>
    <p:sldId id="263" r:id="rId5"/>
    <p:sldId id="257" r:id="rId6"/>
    <p:sldId id="264" r:id="rId7"/>
    <p:sldId id="265"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eab326afa4a1bd8c" providerId="LiveId" clId="{833CC522-3ECE-4A3B-824C-ACF5FEB92B26}"/>
    <pc:docChg chg="undo modSld">
      <pc:chgData name="" userId="eab326afa4a1bd8c" providerId="LiveId" clId="{833CC522-3ECE-4A3B-824C-ACF5FEB92B26}" dt="2026-07-14T05:46:46.726" v="19" actId="20577"/>
      <pc:docMkLst>
        <pc:docMk/>
      </pc:docMkLst>
      <pc:sldChg chg="modSp">
        <pc:chgData name="" userId="eab326afa4a1bd8c" providerId="LiveId" clId="{833CC522-3ECE-4A3B-824C-ACF5FEB92B26}" dt="2026-07-14T05:46:46.726" v="19" actId="20577"/>
        <pc:sldMkLst>
          <pc:docMk/>
          <pc:sldMk cId="1657221341" sldId="256"/>
        </pc:sldMkLst>
        <pc:spChg chg="mod">
          <ac:chgData name="" userId="eab326afa4a1bd8c" providerId="LiveId" clId="{833CC522-3ECE-4A3B-824C-ACF5FEB92B26}" dt="2026-07-14T05:46:46.726" v="19" actId="20577"/>
          <ac:spMkLst>
            <pc:docMk/>
            <pc:sldMk cId="1657221341" sldId="256"/>
            <ac:spMk id="6" creationId="{4C970EE4-6461-C443-46C6-F92F6411FF5C}"/>
          </ac:spMkLst>
        </pc:spChg>
        <pc:spChg chg="mod">
          <ac:chgData name="" userId="eab326afa4a1bd8c" providerId="LiveId" clId="{833CC522-3ECE-4A3B-824C-ACF5FEB92B26}" dt="2026-07-14T05:46:45.797" v="18" actId="1076"/>
          <ac:spMkLst>
            <pc:docMk/>
            <pc:sldMk cId="1657221341" sldId="256"/>
            <ac:spMk id="10" creationId="{5E341C37-C7DE-2AE2-94F4-92AE766DD0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77ED0-2D55-4BDD-A91C-61111939E8AC}" type="datetimeFigureOut">
              <a:rPr lang="en-IN" smtClean="0"/>
              <a:t>03-08-2026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B213B7-D6E5-4E54-8AC6-F4AF9FF068CF}" type="slidenum">
              <a:rPr lang="en-IN" smtClean="0"/>
              <a:t>‹#›</a:t>
            </a:fld>
            <a:endParaRPr lang="en-IN"/>
          </a:p>
        </p:txBody>
      </p:sp>
    </p:spTree>
    <p:extLst>
      <p:ext uri="{BB962C8B-B14F-4D97-AF65-F5344CB8AC3E}">
        <p14:creationId xmlns:p14="http://schemas.microsoft.com/office/powerpoint/2010/main" val="3516772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531F6-77B6-87E6-833C-5853ECD545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DD6975-D05F-05B2-0083-B26A30EA24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FF0AC8-D8A7-CDFA-4395-4E4DB744B4BA}"/>
              </a:ext>
            </a:extLst>
          </p:cNvPr>
          <p:cNvSpPr>
            <a:spLocks noGrp="1"/>
          </p:cNvSpPr>
          <p:nvPr>
            <p:ph type="dt" sz="half" idx="10"/>
          </p:nvPr>
        </p:nvSpPr>
        <p:spPr/>
        <p:txBody>
          <a:bodyPr/>
          <a:lstStyle/>
          <a:p>
            <a:fld id="{D8195AAE-2B35-48A4-A641-58411753E689}" type="datetime1">
              <a:rPr lang="en-IN" smtClean="0"/>
              <a:t>03-08-2026</a:t>
            </a:fld>
            <a:endParaRPr lang="en-IN"/>
          </a:p>
        </p:txBody>
      </p:sp>
      <p:sp>
        <p:nvSpPr>
          <p:cNvPr id="5" name="Footer Placeholder 4">
            <a:extLst>
              <a:ext uri="{FF2B5EF4-FFF2-40B4-BE49-F238E27FC236}">
                <a16:creationId xmlns:a16="http://schemas.microsoft.com/office/drawing/2014/main" id="{243896DB-E5E5-0648-B212-7F3002979384}"/>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A2B8285F-B065-0AC3-2016-5D841576D785}"/>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141231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DE6D8-527E-6B65-4AFB-0641CDF4D8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1F1182-E8DA-05A5-A32F-99359D6384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1A124F-55BC-5F3D-5B60-16EE295299CD}"/>
              </a:ext>
            </a:extLst>
          </p:cNvPr>
          <p:cNvSpPr>
            <a:spLocks noGrp="1"/>
          </p:cNvSpPr>
          <p:nvPr>
            <p:ph type="dt" sz="half" idx="10"/>
          </p:nvPr>
        </p:nvSpPr>
        <p:spPr/>
        <p:txBody>
          <a:bodyPr/>
          <a:lstStyle/>
          <a:p>
            <a:fld id="{D321C8C1-5BD5-4701-BC9C-FC1959089BFB}" type="datetime1">
              <a:rPr lang="en-IN" smtClean="0"/>
              <a:t>03-08-2026</a:t>
            </a:fld>
            <a:endParaRPr lang="en-IN"/>
          </a:p>
        </p:txBody>
      </p:sp>
      <p:sp>
        <p:nvSpPr>
          <p:cNvPr id="5" name="Footer Placeholder 4">
            <a:extLst>
              <a:ext uri="{FF2B5EF4-FFF2-40B4-BE49-F238E27FC236}">
                <a16:creationId xmlns:a16="http://schemas.microsoft.com/office/drawing/2014/main" id="{B9A4499F-ABD3-DBDC-A2E1-2A73A43808C6}"/>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FB7896D9-6127-0B18-2BCA-F9710A023345}"/>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4211192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57B94-DEAB-C857-CD88-F01E4EB8A8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D87A9BF-3130-6813-EECF-C0D7AF35A8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410BDE-EAC6-AA13-5165-21DA90776992}"/>
              </a:ext>
            </a:extLst>
          </p:cNvPr>
          <p:cNvSpPr>
            <a:spLocks noGrp="1"/>
          </p:cNvSpPr>
          <p:nvPr>
            <p:ph type="dt" sz="half" idx="10"/>
          </p:nvPr>
        </p:nvSpPr>
        <p:spPr/>
        <p:txBody>
          <a:bodyPr/>
          <a:lstStyle/>
          <a:p>
            <a:fld id="{6CA325DB-3AE5-4833-89CE-0E2524DFAEC0}" type="datetime1">
              <a:rPr lang="en-IN" smtClean="0"/>
              <a:t>03-08-2026</a:t>
            </a:fld>
            <a:endParaRPr lang="en-IN"/>
          </a:p>
        </p:txBody>
      </p:sp>
      <p:sp>
        <p:nvSpPr>
          <p:cNvPr id="5" name="Footer Placeholder 4">
            <a:extLst>
              <a:ext uri="{FF2B5EF4-FFF2-40B4-BE49-F238E27FC236}">
                <a16:creationId xmlns:a16="http://schemas.microsoft.com/office/drawing/2014/main" id="{1989318B-A4BB-4D6D-A9AD-10E7239D2B97}"/>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FF3447CF-4480-E621-9EE3-9D8FE3E2F30A}"/>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1074535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E3555-AFA0-F0A5-9A37-D78D751E22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029C31-E40F-706B-9F8A-10F6FC6D32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7D69E46-9EA1-3B89-AA99-3817536398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522103-5AF5-99E3-ACD8-86E2107DD0AE}"/>
              </a:ext>
            </a:extLst>
          </p:cNvPr>
          <p:cNvSpPr>
            <a:spLocks noGrp="1"/>
          </p:cNvSpPr>
          <p:nvPr>
            <p:ph type="dt" sz="half" idx="10"/>
          </p:nvPr>
        </p:nvSpPr>
        <p:spPr/>
        <p:txBody>
          <a:bodyPr/>
          <a:lstStyle/>
          <a:p>
            <a:fld id="{734BDEF3-BB22-48B8-B8A2-5E979D1DA426}" type="datetime1">
              <a:rPr lang="en-IN" smtClean="0"/>
              <a:t>03-08-2026</a:t>
            </a:fld>
            <a:endParaRPr lang="en-IN"/>
          </a:p>
        </p:txBody>
      </p:sp>
      <p:sp>
        <p:nvSpPr>
          <p:cNvPr id="6" name="Footer Placeholder 5">
            <a:extLst>
              <a:ext uri="{FF2B5EF4-FFF2-40B4-BE49-F238E27FC236}">
                <a16:creationId xmlns:a16="http://schemas.microsoft.com/office/drawing/2014/main" id="{4607F7BC-2AB9-5C79-A460-9B95AA24E581}"/>
              </a:ext>
            </a:extLst>
          </p:cNvPr>
          <p:cNvSpPr>
            <a:spLocks noGrp="1"/>
          </p:cNvSpPr>
          <p:nvPr>
            <p:ph type="ftr" sz="quarter" idx="11"/>
          </p:nvPr>
        </p:nvSpPr>
        <p:spPr/>
        <p:txBody>
          <a:bodyPr/>
          <a:lstStyle/>
          <a:p>
            <a:r>
              <a:rPr lang="en-IN"/>
              <a:t>Department of AIML</a:t>
            </a:r>
          </a:p>
        </p:txBody>
      </p:sp>
      <p:sp>
        <p:nvSpPr>
          <p:cNvPr id="7" name="Slide Number Placeholder 6">
            <a:extLst>
              <a:ext uri="{FF2B5EF4-FFF2-40B4-BE49-F238E27FC236}">
                <a16:creationId xmlns:a16="http://schemas.microsoft.com/office/drawing/2014/main" id="{EEEB331B-37B2-082E-6454-B7A17F01735B}"/>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1206318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D1DF4-3F0F-CAE8-5071-1656D8C1EF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8D2290-2963-E3EB-457B-CB304568C3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FFD124-772F-58CB-E106-73F0223513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578967F-3D6D-A10F-8904-E238AA8D42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4360DD-9606-D5A4-92EC-FBE68D644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28D2F6-9674-A1E2-7970-56FA6572B14D}"/>
              </a:ext>
            </a:extLst>
          </p:cNvPr>
          <p:cNvSpPr>
            <a:spLocks noGrp="1"/>
          </p:cNvSpPr>
          <p:nvPr>
            <p:ph type="dt" sz="half" idx="10"/>
          </p:nvPr>
        </p:nvSpPr>
        <p:spPr/>
        <p:txBody>
          <a:bodyPr/>
          <a:lstStyle/>
          <a:p>
            <a:fld id="{FDFD0F82-5A13-421A-8D78-F4F5FBF741BA}" type="datetime1">
              <a:rPr lang="en-IN" smtClean="0"/>
              <a:t>03-08-2026</a:t>
            </a:fld>
            <a:endParaRPr lang="en-IN"/>
          </a:p>
        </p:txBody>
      </p:sp>
      <p:sp>
        <p:nvSpPr>
          <p:cNvPr id="8" name="Footer Placeholder 7">
            <a:extLst>
              <a:ext uri="{FF2B5EF4-FFF2-40B4-BE49-F238E27FC236}">
                <a16:creationId xmlns:a16="http://schemas.microsoft.com/office/drawing/2014/main" id="{A5324708-F9F6-3C2B-2F97-CF7AC7F41905}"/>
              </a:ext>
            </a:extLst>
          </p:cNvPr>
          <p:cNvSpPr>
            <a:spLocks noGrp="1"/>
          </p:cNvSpPr>
          <p:nvPr>
            <p:ph type="ftr" sz="quarter" idx="11"/>
          </p:nvPr>
        </p:nvSpPr>
        <p:spPr/>
        <p:txBody>
          <a:bodyPr/>
          <a:lstStyle/>
          <a:p>
            <a:r>
              <a:rPr lang="en-IN"/>
              <a:t>Department of AIML</a:t>
            </a:r>
          </a:p>
        </p:txBody>
      </p:sp>
      <p:sp>
        <p:nvSpPr>
          <p:cNvPr id="9" name="Slide Number Placeholder 8">
            <a:extLst>
              <a:ext uri="{FF2B5EF4-FFF2-40B4-BE49-F238E27FC236}">
                <a16:creationId xmlns:a16="http://schemas.microsoft.com/office/drawing/2014/main" id="{0430A140-E5CA-7575-C927-08F57F5729D8}"/>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1154833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0DCE3-453C-C669-D26C-DDCACBE09C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34ADBC-8C75-187D-ABDC-1186D205B254}"/>
              </a:ext>
            </a:extLst>
          </p:cNvPr>
          <p:cNvSpPr>
            <a:spLocks noGrp="1"/>
          </p:cNvSpPr>
          <p:nvPr>
            <p:ph type="dt" sz="half" idx="10"/>
          </p:nvPr>
        </p:nvSpPr>
        <p:spPr/>
        <p:txBody>
          <a:bodyPr/>
          <a:lstStyle/>
          <a:p>
            <a:fld id="{643F7D41-4A1C-437E-BB62-CFF57DB342AA}" type="datetime1">
              <a:rPr lang="en-IN" smtClean="0"/>
              <a:t>03-08-2026</a:t>
            </a:fld>
            <a:endParaRPr lang="en-IN"/>
          </a:p>
        </p:txBody>
      </p:sp>
      <p:sp>
        <p:nvSpPr>
          <p:cNvPr id="4" name="Footer Placeholder 3">
            <a:extLst>
              <a:ext uri="{FF2B5EF4-FFF2-40B4-BE49-F238E27FC236}">
                <a16:creationId xmlns:a16="http://schemas.microsoft.com/office/drawing/2014/main" id="{46D00FD5-BBA5-9E05-2AAB-FE540A42ADBC}"/>
              </a:ext>
            </a:extLst>
          </p:cNvPr>
          <p:cNvSpPr>
            <a:spLocks noGrp="1"/>
          </p:cNvSpPr>
          <p:nvPr>
            <p:ph type="ftr" sz="quarter" idx="11"/>
          </p:nvPr>
        </p:nvSpPr>
        <p:spPr/>
        <p:txBody>
          <a:bodyPr/>
          <a:lstStyle/>
          <a:p>
            <a:r>
              <a:rPr lang="en-IN"/>
              <a:t>Department of AIML</a:t>
            </a:r>
          </a:p>
        </p:txBody>
      </p:sp>
      <p:sp>
        <p:nvSpPr>
          <p:cNvPr id="5" name="Slide Number Placeholder 4">
            <a:extLst>
              <a:ext uri="{FF2B5EF4-FFF2-40B4-BE49-F238E27FC236}">
                <a16:creationId xmlns:a16="http://schemas.microsoft.com/office/drawing/2014/main" id="{8B478E2F-4C13-9FF7-27C3-97C8C10AC8CE}"/>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2436937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D51F50-81FD-60E7-5198-36B034436833}"/>
              </a:ext>
            </a:extLst>
          </p:cNvPr>
          <p:cNvSpPr>
            <a:spLocks noGrp="1"/>
          </p:cNvSpPr>
          <p:nvPr>
            <p:ph type="dt" sz="half" idx="10"/>
          </p:nvPr>
        </p:nvSpPr>
        <p:spPr/>
        <p:txBody>
          <a:bodyPr/>
          <a:lstStyle/>
          <a:p>
            <a:fld id="{B7CC11A7-7F9A-4101-8556-33C6666D06CC}" type="datetime1">
              <a:rPr lang="en-IN" smtClean="0"/>
              <a:t>03-08-2026</a:t>
            </a:fld>
            <a:endParaRPr lang="en-IN"/>
          </a:p>
        </p:txBody>
      </p:sp>
      <p:sp>
        <p:nvSpPr>
          <p:cNvPr id="3" name="Footer Placeholder 2">
            <a:extLst>
              <a:ext uri="{FF2B5EF4-FFF2-40B4-BE49-F238E27FC236}">
                <a16:creationId xmlns:a16="http://schemas.microsoft.com/office/drawing/2014/main" id="{958077B3-660A-8F13-0B00-2965EF55FD8A}"/>
              </a:ext>
            </a:extLst>
          </p:cNvPr>
          <p:cNvSpPr>
            <a:spLocks noGrp="1"/>
          </p:cNvSpPr>
          <p:nvPr>
            <p:ph type="ftr" sz="quarter" idx="11"/>
          </p:nvPr>
        </p:nvSpPr>
        <p:spPr/>
        <p:txBody>
          <a:bodyPr/>
          <a:lstStyle/>
          <a:p>
            <a:r>
              <a:rPr lang="en-IN"/>
              <a:t>Department of AIML</a:t>
            </a:r>
          </a:p>
        </p:txBody>
      </p:sp>
      <p:sp>
        <p:nvSpPr>
          <p:cNvPr id="4" name="Slide Number Placeholder 3">
            <a:extLst>
              <a:ext uri="{FF2B5EF4-FFF2-40B4-BE49-F238E27FC236}">
                <a16:creationId xmlns:a16="http://schemas.microsoft.com/office/drawing/2014/main" id="{56C50E59-798F-137A-BBFD-05C058C7F5AF}"/>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28377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81FA-16F0-94FA-3356-8D9C258EC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1F9213-EDBB-0FA6-3052-B30105AC2F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4957B8-CACF-6FFD-FE9B-BB33C6316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F364A-DD2E-5BB7-0286-85067A0B4C0B}"/>
              </a:ext>
            </a:extLst>
          </p:cNvPr>
          <p:cNvSpPr>
            <a:spLocks noGrp="1"/>
          </p:cNvSpPr>
          <p:nvPr>
            <p:ph type="dt" sz="half" idx="10"/>
          </p:nvPr>
        </p:nvSpPr>
        <p:spPr/>
        <p:txBody>
          <a:bodyPr/>
          <a:lstStyle/>
          <a:p>
            <a:fld id="{21642765-3923-43C4-B7A7-6DDF24B516DC}" type="datetime1">
              <a:rPr lang="en-IN" smtClean="0"/>
              <a:t>03-08-2026</a:t>
            </a:fld>
            <a:endParaRPr lang="en-IN"/>
          </a:p>
        </p:txBody>
      </p:sp>
      <p:sp>
        <p:nvSpPr>
          <p:cNvPr id="6" name="Footer Placeholder 5">
            <a:extLst>
              <a:ext uri="{FF2B5EF4-FFF2-40B4-BE49-F238E27FC236}">
                <a16:creationId xmlns:a16="http://schemas.microsoft.com/office/drawing/2014/main" id="{8E8C745B-05DA-9227-6F29-2EDCA7E5558D}"/>
              </a:ext>
            </a:extLst>
          </p:cNvPr>
          <p:cNvSpPr>
            <a:spLocks noGrp="1"/>
          </p:cNvSpPr>
          <p:nvPr>
            <p:ph type="ftr" sz="quarter" idx="11"/>
          </p:nvPr>
        </p:nvSpPr>
        <p:spPr/>
        <p:txBody>
          <a:bodyPr/>
          <a:lstStyle/>
          <a:p>
            <a:r>
              <a:rPr lang="en-IN"/>
              <a:t>Department of AIML</a:t>
            </a:r>
          </a:p>
        </p:txBody>
      </p:sp>
      <p:sp>
        <p:nvSpPr>
          <p:cNvPr id="7" name="Slide Number Placeholder 6">
            <a:extLst>
              <a:ext uri="{FF2B5EF4-FFF2-40B4-BE49-F238E27FC236}">
                <a16:creationId xmlns:a16="http://schemas.microsoft.com/office/drawing/2014/main" id="{4AEB71D6-5E91-B2A8-F4CB-579E00303337}"/>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4205802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61D2-647E-C7A2-1A40-C347A7630F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A7BA08-E1D9-6286-9EDD-6F7BDC0C8C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764E6DC-14D9-038F-410B-E300498E9F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67D933-3D3F-CF01-22B4-F6B7050E0A61}"/>
              </a:ext>
            </a:extLst>
          </p:cNvPr>
          <p:cNvSpPr>
            <a:spLocks noGrp="1"/>
          </p:cNvSpPr>
          <p:nvPr>
            <p:ph type="dt" sz="half" idx="10"/>
          </p:nvPr>
        </p:nvSpPr>
        <p:spPr/>
        <p:txBody>
          <a:bodyPr/>
          <a:lstStyle/>
          <a:p>
            <a:fld id="{A1819EBB-D292-4FCF-8B96-293400278898}" type="datetime1">
              <a:rPr lang="en-IN" smtClean="0"/>
              <a:t>03-08-2026</a:t>
            </a:fld>
            <a:endParaRPr lang="en-IN"/>
          </a:p>
        </p:txBody>
      </p:sp>
      <p:sp>
        <p:nvSpPr>
          <p:cNvPr id="6" name="Footer Placeholder 5">
            <a:extLst>
              <a:ext uri="{FF2B5EF4-FFF2-40B4-BE49-F238E27FC236}">
                <a16:creationId xmlns:a16="http://schemas.microsoft.com/office/drawing/2014/main" id="{C7DBB217-02AF-94BC-4379-FE5E3B116F72}"/>
              </a:ext>
            </a:extLst>
          </p:cNvPr>
          <p:cNvSpPr>
            <a:spLocks noGrp="1"/>
          </p:cNvSpPr>
          <p:nvPr>
            <p:ph type="ftr" sz="quarter" idx="11"/>
          </p:nvPr>
        </p:nvSpPr>
        <p:spPr/>
        <p:txBody>
          <a:bodyPr/>
          <a:lstStyle/>
          <a:p>
            <a:r>
              <a:rPr lang="en-IN"/>
              <a:t>Department of AIML</a:t>
            </a:r>
          </a:p>
        </p:txBody>
      </p:sp>
      <p:sp>
        <p:nvSpPr>
          <p:cNvPr id="7" name="Slide Number Placeholder 6">
            <a:extLst>
              <a:ext uri="{FF2B5EF4-FFF2-40B4-BE49-F238E27FC236}">
                <a16:creationId xmlns:a16="http://schemas.microsoft.com/office/drawing/2014/main" id="{8FE42CD2-10D3-33E8-FA6D-CDCB430A3C55}"/>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398327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573B7-DEF5-F452-B72D-BD6A9CF3B5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CAD99E-C700-633B-6DA1-210548A055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822FDB-8892-A10C-11EC-1ABB6DDD4F87}"/>
              </a:ext>
            </a:extLst>
          </p:cNvPr>
          <p:cNvSpPr>
            <a:spLocks noGrp="1"/>
          </p:cNvSpPr>
          <p:nvPr>
            <p:ph type="dt" sz="half" idx="10"/>
          </p:nvPr>
        </p:nvSpPr>
        <p:spPr/>
        <p:txBody>
          <a:bodyPr/>
          <a:lstStyle/>
          <a:p>
            <a:fld id="{91206278-1AB1-443D-9AB9-1308B0BDCA72}" type="datetime1">
              <a:rPr lang="en-IN" smtClean="0"/>
              <a:t>03-08-2026</a:t>
            </a:fld>
            <a:endParaRPr lang="en-IN"/>
          </a:p>
        </p:txBody>
      </p:sp>
      <p:sp>
        <p:nvSpPr>
          <p:cNvPr id="5" name="Footer Placeholder 4">
            <a:extLst>
              <a:ext uri="{FF2B5EF4-FFF2-40B4-BE49-F238E27FC236}">
                <a16:creationId xmlns:a16="http://schemas.microsoft.com/office/drawing/2014/main" id="{1F64785E-8E07-E19F-81C4-45D61BC5A63B}"/>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A4ECEDEF-5C32-CB26-7C13-D72297055DE1}"/>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4268091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5C7FB5-017D-A2B6-C85C-7D8C082D52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3E4EDA-C256-6BC5-83EC-DD6701D7C2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558C9E-C3B0-EB56-387E-08BD129419BF}"/>
              </a:ext>
            </a:extLst>
          </p:cNvPr>
          <p:cNvSpPr>
            <a:spLocks noGrp="1"/>
          </p:cNvSpPr>
          <p:nvPr>
            <p:ph type="dt" sz="half" idx="10"/>
          </p:nvPr>
        </p:nvSpPr>
        <p:spPr/>
        <p:txBody>
          <a:bodyPr/>
          <a:lstStyle/>
          <a:p>
            <a:fld id="{BD5FF046-CBF2-4E1A-B403-838407D0B761}" type="datetime1">
              <a:rPr lang="en-IN" smtClean="0"/>
              <a:t>03-08-2026</a:t>
            </a:fld>
            <a:endParaRPr lang="en-IN"/>
          </a:p>
        </p:txBody>
      </p:sp>
      <p:sp>
        <p:nvSpPr>
          <p:cNvPr id="5" name="Footer Placeholder 4">
            <a:extLst>
              <a:ext uri="{FF2B5EF4-FFF2-40B4-BE49-F238E27FC236}">
                <a16:creationId xmlns:a16="http://schemas.microsoft.com/office/drawing/2014/main" id="{CF754228-0424-4ADC-AA07-FCBE69168D86}"/>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9CA18C59-8484-D773-59D5-825E8D455923}"/>
              </a:ext>
            </a:extLst>
          </p:cNvPr>
          <p:cNvSpPr>
            <a:spLocks noGrp="1"/>
          </p:cNvSpPr>
          <p:nvPr>
            <p:ph type="sldNum" sz="quarter" idx="12"/>
          </p:nvPr>
        </p:nvSpPr>
        <p:spPr/>
        <p:txBody>
          <a:bodyPr/>
          <a:lstStyle/>
          <a:p>
            <a:fld id="{D647149E-29F4-4E68-BA9F-E94CFCC48872}" type="slidenum">
              <a:rPr lang="en-IN" smtClean="0"/>
              <a:t>‹#›</a:t>
            </a:fld>
            <a:endParaRPr lang="en-IN"/>
          </a:p>
        </p:txBody>
      </p:sp>
    </p:spTree>
    <p:extLst>
      <p:ext uri="{BB962C8B-B14F-4D97-AF65-F5344CB8AC3E}">
        <p14:creationId xmlns:p14="http://schemas.microsoft.com/office/powerpoint/2010/main" val="1701372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47E98-2718-ABC1-445E-F430F50564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B24D03-8CA4-90D8-75D8-08B3071CE2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37ED44-42E3-F823-9CF7-88D15C175B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0A723F-A553-4B55-9AB8-89EA9517D43F}" type="datetime1">
              <a:rPr lang="en-IN" smtClean="0"/>
              <a:t>03-08-2026</a:t>
            </a:fld>
            <a:endParaRPr lang="en-IN"/>
          </a:p>
        </p:txBody>
      </p:sp>
      <p:sp>
        <p:nvSpPr>
          <p:cNvPr id="5" name="Footer Placeholder 4">
            <a:extLst>
              <a:ext uri="{FF2B5EF4-FFF2-40B4-BE49-F238E27FC236}">
                <a16:creationId xmlns:a16="http://schemas.microsoft.com/office/drawing/2014/main" id="{787A677E-FB52-D139-3587-8BBA2FE397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Department of AIML</a:t>
            </a:r>
          </a:p>
        </p:txBody>
      </p:sp>
      <p:sp>
        <p:nvSpPr>
          <p:cNvPr id="6" name="Slide Number Placeholder 5">
            <a:extLst>
              <a:ext uri="{FF2B5EF4-FFF2-40B4-BE49-F238E27FC236}">
                <a16:creationId xmlns:a16="http://schemas.microsoft.com/office/drawing/2014/main" id="{A53233EB-912B-5FB6-5AD0-4F7CBCE61B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47149E-29F4-4E68-BA9F-E94CFCC48872}" type="slidenum">
              <a:rPr lang="en-IN" smtClean="0"/>
              <a:t>‹#›</a:t>
            </a:fld>
            <a:endParaRPr lang="en-IN"/>
          </a:p>
        </p:txBody>
      </p:sp>
    </p:spTree>
    <p:extLst>
      <p:ext uri="{BB962C8B-B14F-4D97-AF65-F5344CB8AC3E}">
        <p14:creationId xmlns:p14="http://schemas.microsoft.com/office/powerpoint/2010/main" val="943639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7D829705-F9BE-C16B-60A7-7C429588D65D}"/>
              </a:ext>
            </a:extLst>
          </p:cNvPr>
          <p:cNvGrpSpPr/>
          <p:nvPr/>
        </p:nvGrpSpPr>
        <p:grpSpPr>
          <a:xfrm>
            <a:off x="-528488" y="1183583"/>
            <a:ext cx="13805210" cy="2920584"/>
            <a:chOff x="-118947" y="-1206720"/>
            <a:chExt cx="18406947" cy="6690675"/>
          </a:xfrm>
        </p:grpSpPr>
        <p:sp>
          <p:nvSpPr>
            <p:cNvPr id="5" name="Freeform 3">
              <a:extLst>
                <a:ext uri="{FF2B5EF4-FFF2-40B4-BE49-F238E27FC236}">
                  <a16:creationId xmlns:a16="http://schemas.microsoft.com/office/drawing/2014/main" id="{8AD6C11F-A1ED-91A6-39CE-3D190F981B98}"/>
                </a:ext>
              </a:extLst>
            </p:cNvPr>
            <p:cNvSpPr/>
            <p:nvPr/>
          </p:nvSpPr>
          <p:spPr>
            <a:xfrm>
              <a:off x="0" y="0"/>
              <a:ext cx="18288000" cy="5483955"/>
            </a:xfrm>
            <a:custGeom>
              <a:avLst/>
              <a:gdLst/>
              <a:ahLst/>
              <a:cxnLst/>
              <a:rect l="l" t="t" r="r" b="b"/>
              <a:pathLst>
                <a:path w="18288000" h="5483955">
                  <a:moveTo>
                    <a:pt x="0" y="0"/>
                  </a:moveTo>
                  <a:lnTo>
                    <a:pt x="18288000" y="0"/>
                  </a:lnTo>
                  <a:lnTo>
                    <a:pt x="18288000" y="5483955"/>
                  </a:lnTo>
                  <a:lnTo>
                    <a:pt x="0" y="5483955"/>
                  </a:lnTo>
                  <a:close/>
                </a:path>
              </a:pathLst>
            </a:custGeom>
            <a:solidFill>
              <a:srgbClr val="000000">
                <a:alpha val="0"/>
              </a:srgbClr>
            </a:solidFill>
          </p:spPr>
          <p:txBody>
            <a:bodyPr/>
            <a:lstStyle/>
            <a:p>
              <a:endParaRPr lang="en-IN"/>
            </a:p>
          </p:txBody>
        </p:sp>
        <p:sp>
          <p:nvSpPr>
            <p:cNvPr id="6" name="TextBox 4">
              <a:extLst>
                <a:ext uri="{FF2B5EF4-FFF2-40B4-BE49-F238E27FC236}">
                  <a16:creationId xmlns:a16="http://schemas.microsoft.com/office/drawing/2014/main" id="{4C970EE4-6461-C443-46C6-F92F6411FF5C}"/>
                </a:ext>
              </a:extLst>
            </p:cNvPr>
            <p:cNvSpPr txBox="1"/>
            <p:nvPr/>
          </p:nvSpPr>
          <p:spPr>
            <a:xfrm>
              <a:off x="-118947" y="-1206720"/>
              <a:ext cx="17619299" cy="5541106"/>
            </a:xfrm>
            <a:prstGeom prst="rect">
              <a:avLst/>
            </a:prstGeom>
          </p:spPr>
          <p:txBody>
            <a:bodyPr lIns="0" tIns="0" rIns="0" bIns="0" rtlCol="0" anchor="b"/>
            <a:lstStyle/>
            <a:p>
              <a:pPr algn="ctr">
                <a:lnSpc>
                  <a:spcPts val="5248"/>
                </a:lnSpc>
              </a:pPr>
              <a:r>
                <a:rPr lang="en-US" sz="2400" b="1" dirty="0">
                  <a:solidFill>
                    <a:srgbClr val="000000"/>
                  </a:solidFill>
                  <a:latin typeface="Times New Roman Bold"/>
                  <a:ea typeface="Times New Roman Bold"/>
                  <a:cs typeface="Times New Roman Bold"/>
                  <a:sym typeface="Times New Roman Bold"/>
                </a:rPr>
                <a:t>Major Project Presentation</a:t>
              </a:r>
            </a:p>
            <a:p>
              <a:pPr algn="ctr">
                <a:lnSpc>
                  <a:spcPts val="5248"/>
                </a:lnSpc>
              </a:pPr>
              <a:r>
                <a:rPr lang="en-US" sz="2400" b="1" dirty="0">
                  <a:solidFill>
                    <a:srgbClr val="000000"/>
                  </a:solidFill>
                  <a:latin typeface="Times New Roman Bold"/>
                  <a:ea typeface="Times New Roman Bold"/>
                  <a:cs typeface="Times New Roman Bold"/>
                  <a:sym typeface="Times New Roman Bold"/>
                </a:rPr>
                <a:t>On </a:t>
              </a:r>
            </a:p>
            <a:p>
              <a:pPr algn="ctr">
                <a:lnSpc>
                  <a:spcPts val="5248"/>
                </a:lnSpc>
              </a:pPr>
              <a:r>
                <a:rPr lang="en-US" sz="2400" b="1" dirty="0" err="1">
                  <a:solidFill>
                    <a:srgbClr val="000000"/>
                  </a:solidFill>
                  <a:latin typeface="Times New Roman Bold"/>
                  <a:ea typeface="Times New Roman Bold"/>
                  <a:cs typeface="Times New Roman Bold"/>
                  <a:sym typeface="Times New Roman Bold"/>
                </a:rPr>
                <a:t>FinSight</a:t>
              </a:r>
              <a:r>
                <a:rPr lang="en-US" sz="2400" b="1" dirty="0">
                  <a:solidFill>
                    <a:srgbClr val="000000"/>
                  </a:solidFill>
                  <a:latin typeface="Times New Roman Bold"/>
                  <a:ea typeface="Times New Roman Bold"/>
                  <a:cs typeface="Times New Roman Bold"/>
                  <a:sym typeface="Times New Roman Bold"/>
                </a:rPr>
                <a:t> AI: LLM-Powered SEC Filing Anomaly Detector for Financial Risk Intelligence</a:t>
              </a:r>
            </a:p>
          </p:txBody>
        </p:sp>
      </p:grpSp>
      <p:grpSp>
        <p:nvGrpSpPr>
          <p:cNvPr id="7" name="Group 5">
            <a:extLst>
              <a:ext uri="{FF2B5EF4-FFF2-40B4-BE49-F238E27FC236}">
                <a16:creationId xmlns:a16="http://schemas.microsoft.com/office/drawing/2014/main" id="{B0E26E37-D891-691A-4301-6CF3688C2DEB}"/>
              </a:ext>
            </a:extLst>
          </p:cNvPr>
          <p:cNvGrpSpPr/>
          <p:nvPr/>
        </p:nvGrpSpPr>
        <p:grpSpPr>
          <a:xfrm>
            <a:off x="0" y="4055269"/>
            <a:ext cx="6178700" cy="2727285"/>
            <a:chOff x="0" y="0"/>
            <a:chExt cx="14326893" cy="3636379"/>
          </a:xfrm>
        </p:grpSpPr>
        <p:sp>
          <p:nvSpPr>
            <p:cNvPr id="8" name="Freeform 6">
              <a:extLst>
                <a:ext uri="{FF2B5EF4-FFF2-40B4-BE49-F238E27FC236}">
                  <a16:creationId xmlns:a16="http://schemas.microsoft.com/office/drawing/2014/main" id="{C7D96BA2-FACE-5DDC-8ECD-4142BE08750B}"/>
                </a:ext>
              </a:extLst>
            </p:cNvPr>
            <p:cNvSpPr/>
            <p:nvPr/>
          </p:nvSpPr>
          <p:spPr>
            <a:xfrm>
              <a:off x="0" y="0"/>
              <a:ext cx="12156436" cy="3311524"/>
            </a:xfrm>
            <a:custGeom>
              <a:avLst/>
              <a:gdLst/>
              <a:ahLst/>
              <a:cxnLst/>
              <a:rect l="l" t="t" r="r" b="b"/>
              <a:pathLst>
                <a:path w="12156436" h="3311524">
                  <a:moveTo>
                    <a:pt x="0" y="0"/>
                  </a:moveTo>
                  <a:lnTo>
                    <a:pt x="12156436" y="0"/>
                  </a:lnTo>
                  <a:lnTo>
                    <a:pt x="12156436" y="3311524"/>
                  </a:lnTo>
                  <a:lnTo>
                    <a:pt x="0" y="3311524"/>
                  </a:lnTo>
                  <a:close/>
                </a:path>
              </a:pathLst>
            </a:custGeom>
            <a:solidFill>
              <a:srgbClr val="000000">
                <a:alpha val="0"/>
              </a:srgbClr>
            </a:solidFill>
          </p:spPr>
          <p:txBody>
            <a:bodyPr/>
            <a:lstStyle/>
            <a:p>
              <a:endParaRPr lang="en-IN"/>
            </a:p>
          </p:txBody>
        </p:sp>
        <p:sp>
          <p:nvSpPr>
            <p:cNvPr id="9" name="TextBox 7">
              <a:extLst>
                <a:ext uri="{FF2B5EF4-FFF2-40B4-BE49-F238E27FC236}">
                  <a16:creationId xmlns:a16="http://schemas.microsoft.com/office/drawing/2014/main" id="{F730AB0A-63B7-D849-0CE4-055A8788A397}"/>
                </a:ext>
              </a:extLst>
            </p:cNvPr>
            <p:cNvSpPr txBox="1"/>
            <p:nvPr/>
          </p:nvSpPr>
          <p:spPr>
            <a:xfrm>
              <a:off x="2170457" y="296281"/>
              <a:ext cx="12156436" cy="3340098"/>
            </a:xfrm>
            <a:prstGeom prst="rect">
              <a:avLst/>
            </a:prstGeom>
          </p:spPr>
          <p:txBody>
            <a:bodyPr lIns="0" tIns="0" rIns="0" bIns="0" rtlCol="0" anchor="t"/>
            <a:lstStyle/>
            <a:p>
              <a:r>
                <a:rPr lang="en-IN" sz="2400" b="1" dirty="0"/>
                <a:t>Group 12</a:t>
              </a:r>
            </a:p>
            <a:p>
              <a:endParaRPr lang="en-IN" sz="2400" b="1" dirty="0"/>
            </a:p>
            <a:p>
              <a:r>
                <a:rPr lang="en-IN" sz="2000" b="1" dirty="0"/>
                <a:t>Name - Riya Chaurasiya 	Roll No. - 123A9006</a:t>
              </a:r>
              <a:endParaRPr lang="en-IN" sz="2000" dirty="0"/>
            </a:p>
            <a:p>
              <a:r>
                <a:rPr lang="en-IN" sz="2000" b="1" dirty="0"/>
                <a:t>Name - Chhaya Gami 	Roll No. - 123A9007</a:t>
              </a:r>
              <a:endParaRPr lang="en-IN" sz="2000" dirty="0"/>
            </a:p>
            <a:p>
              <a:r>
                <a:rPr lang="en-IN" sz="2000" b="1" dirty="0"/>
                <a:t>Name - Stuti </a:t>
              </a:r>
              <a:r>
                <a:rPr lang="en-IN" sz="2000" b="1" dirty="0" err="1"/>
                <a:t>Chilweri</a:t>
              </a:r>
              <a:r>
                <a:rPr lang="en-IN" sz="2000" b="1" dirty="0"/>
                <a:t> 	Roll No. - 123A9008</a:t>
              </a:r>
              <a:endParaRPr lang="en-IN" sz="2000" dirty="0"/>
            </a:p>
            <a:p>
              <a:r>
                <a:rPr lang="en-IN" sz="2000" b="1" dirty="0"/>
                <a:t>Name - Sakshi Kale 	Roll No. - 123A9016</a:t>
              </a:r>
              <a:endParaRPr lang="en-IN" sz="2000" dirty="0"/>
            </a:p>
          </p:txBody>
        </p:sp>
      </p:grpSp>
      <p:sp>
        <p:nvSpPr>
          <p:cNvPr id="10" name="Freeform 11">
            <a:extLst>
              <a:ext uri="{FF2B5EF4-FFF2-40B4-BE49-F238E27FC236}">
                <a16:creationId xmlns:a16="http://schemas.microsoft.com/office/drawing/2014/main" id="{5E341C37-C7DE-2AE2-94F4-92AE766DD041}"/>
              </a:ext>
            </a:extLst>
          </p:cNvPr>
          <p:cNvSpPr/>
          <p:nvPr/>
        </p:nvSpPr>
        <p:spPr>
          <a:xfrm>
            <a:off x="4365373" y="-113294"/>
            <a:ext cx="4017489" cy="1650316"/>
          </a:xfrm>
          <a:custGeom>
            <a:avLst/>
            <a:gdLst/>
            <a:ahLst/>
            <a:cxnLst/>
            <a:rect l="l" t="t" r="r" b="b"/>
            <a:pathLst>
              <a:path w="4017489" h="1650316">
                <a:moveTo>
                  <a:pt x="0" y="0"/>
                </a:moveTo>
                <a:lnTo>
                  <a:pt x="4017489" y="0"/>
                </a:lnTo>
                <a:lnTo>
                  <a:pt x="4017489" y="1650316"/>
                </a:lnTo>
                <a:lnTo>
                  <a:pt x="0" y="1650316"/>
                </a:lnTo>
                <a:lnTo>
                  <a:pt x="0" y="0"/>
                </a:lnTo>
                <a:close/>
              </a:path>
            </a:pathLst>
          </a:custGeom>
          <a:blipFill>
            <a:blip r:embed="rId2"/>
            <a:stretch>
              <a:fillRect/>
            </a:stretch>
          </a:blipFill>
        </p:spPr>
        <p:txBody>
          <a:bodyPr/>
          <a:lstStyle/>
          <a:p>
            <a:endParaRPr lang="en-IN"/>
          </a:p>
        </p:txBody>
      </p:sp>
      <p:sp>
        <p:nvSpPr>
          <p:cNvPr id="11" name="Date Placeholder 10">
            <a:extLst>
              <a:ext uri="{FF2B5EF4-FFF2-40B4-BE49-F238E27FC236}">
                <a16:creationId xmlns:a16="http://schemas.microsoft.com/office/drawing/2014/main" id="{B523B0C0-CADF-579F-872E-9F154EE587FD}"/>
              </a:ext>
            </a:extLst>
          </p:cNvPr>
          <p:cNvSpPr>
            <a:spLocks noGrp="1"/>
          </p:cNvSpPr>
          <p:nvPr>
            <p:ph type="dt" sz="half" idx="10"/>
          </p:nvPr>
        </p:nvSpPr>
        <p:spPr/>
        <p:txBody>
          <a:bodyPr/>
          <a:lstStyle/>
          <a:p>
            <a:fld id="{B839AA72-45C4-4C83-A33E-0848684154B4}" type="datetime1">
              <a:rPr lang="en-IN" smtClean="0"/>
              <a:t>03-08-2026</a:t>
            </a:fld>
            <a:endParaRPr lang="en-IN"/>
          </a:p>
        </p:txBody>
      </p:sp>
      <p:sp>
        <p:nvSpPr>
          <p:cNvPr id="12" name="Footer Placeholder 11">
            <a:extLst>
              <a:ext uri="{FF2B5EF4-FFF2-40B4-BE49-F238E27FC236}">
                <a16:creationId xmlns:a16="http://schemas.microsoft.com/office/drawing/2014/main" id="{643BC924-D164-55B1-D58B-9899AEB365F3}"/>
              </a:ext>
            </a:extLst>
          </p:cNvPr>
          <p:cNvSpPr>
            <a:spLocks noGrp="1"/>
          </p:cNvSpPr>
          <p:nvPr>
            <p:ph type="ftr" sz="quarter" idx="11"/>
          </p:nvPr>
        </p:nvSpPr>
        <p:spPr/>
        <p:txBody>
          <a:bodyPr/>
          <a:lstStyle/>
          <a:p>
            <a:r>
              <a:rPr lang="en-IN" dirty="0"/>
              <a:t>Department of AIML</a:t>
            </a:r>
          </a:p>
        </p:txBody>
      </p:sp>
      <p:sp>
        <p:nvSpPr>
          <p:cNvPr id="13" name="Slide Number Placeholder 12">
            <a:extLst>
              <a:ext uri="{FF2B5EF4-FFF2-40B4-BE49-F238E27FC236}">
                <a16:creationId xmlns:a16="http://schemas.microsoft.com/office/drawing/2014/main" id="{520CACB1-5DCB-A6B0-CAD9-1EBDAB5CC6DC}"/>
              </a:ext>
            </a:extLst>
          </p:cNvPr>
          <p:cNvSpPr>
            <a:spLocks noGrp="1"/>
          </p:cNvSpPr>
          <p:nvPr>
            <p:ph type="sldNum" sz="quarter" idx="12"/>
          </p:nvPr>
        </p:nvSpPr>
        <p:spPr/>
        <p:txBody>
          <a:bodyPr/>
          <a:lstStyle/>
          <a:p>
            <a:fld id="{D647149E-29F4-4E68-BA9F-E94CFCC48872}" type="slidenum">
              <a:rPr lang="en-IN" smtClean="0"/>
              <a:t>1</a:t>
            </a:fld>
            <a:endParaRPr lang="en-IN"/>
          </a:p>
        </p:txBody>
      </p:sp>
      <p:grpSp>
        <p:nvGrpSpPr>
          <p:cNvPr id="2" name="Group 5">
            <a:extLst>
              <a:ext uri="{FF2B5EF4-FFF2-40B4-BE49-F238E27FC236}">
                <a16:creationId xmlns:a16="http://schemas.microsoft.com/office/drawing/2014/main" id="{0E09C83B-8AF9-8523-A31C-1B0C73917FFC}"/>
              </a:ext>
            </a:extLst>
          </p:cNvPr>
          <p:cNvGrpSpPr/>
          <p:nvPr/>
        </p:nvGrpSpPr>
        <p:grpSpPr>
          <a:xfrm>
            <a:off x="5795719" y="3930805"/>
            <a:ext cx="5400369" cy="2747482"/>
            <a:chOff x="0" y="0"/>
            <a:chExt cx="12522134" cy="3663309"/>
          </a:xfrm>
        </p:grpSpPr>
        <p:sp>
          <p:nvSpPr>
            <p:cNvPr id="3" name="Freeform 6">
              <a:extLst>
                <a:ext uri="{FF2B5EF4-FFF2-40B4-BE49-F238E27FC236}">
                  <a16:creationId xmlns:a16="http://schemas.microsoft.com/office/drawing/2014/main" id="{51D2003E-AACF-D112-6D9D-C328A5672EFE}"/>
                </a:ext>
              </a:extLst>
            </p:cNvPr>
            <p:cNvSpPr/>
            <p:nvPr/>
          </p:nvSpPr>
          <p:spPr>
            <a:xfrm>
              <a:off x="0" y="0"/>
              <a:ext cx="12156436" cy="3311524"/>
            </a:xfrm>
            <a:custGeom>
              <a:avLst/>
              <a:gdLst/>
              <a:ahLst/>
              <a:cxnLst/>
              <a:rect l="l" t="t" r="r" b="b"/>
              <a:pathLst>
                <a:path w="12156436" h="3311524">
                  <a:moveTo>
                    <a:pt x="0" y="0"/>
                  </a:moveTo>
                  <a:lnTo>
                    <a:pt x="12156436" y="0"/>
                  </a:lnTo>
                  <a:lnTo>
                    <a:pt x="12156436" y="3311524"/>
                  </a:lnTo>
                  <a:lnTo>
                    <a:pt x="0" y="3311524"/>
                  </a:lnTo>
                  <a:close/>
                </a:path>
              </a:pathLst>
            </a:custGeom>
            <a:solidFill>
              <a:srgbClr val="000000">
                <a:alpha val="0"/>
              </a:srgbClr>
            </a:solidFill>
          </p:spPr>
          <p:txBody>
            <a:bodyPr/>
            <a:lstStyle/>
            <a:p>
              <a:endParaRPr lang="en-IN" dirty="0"/>
            </a:p>
          </p:txBody>
        </p:sp>
        <p:sp>
          <p:nvSpPr>
            <p:cNvPr id="14" name="TextBox 7">
              <a:extLst>
                <a:ext uri="{FF2B5EF4-FFF2-40B4-BE49-F238E27FC236}">
                  <a16:creationId xmlns:a16="http://schemas.microsoft.com/office/drawing/2014/main" id="{280A34E9-79E1-4687-7ABD-11A2A1F8AEFC}"/>
                </a:ext>
              </a:extLst>
            </p:cNvPr>
            <p:cNvSpPr txBox="1"/>
            <p:nvPr/>
          </p:nvSpPr>
          <p:spPr>
            <a:xfrm>
              <a:off x="365698" y="323211"/>
              <a:ext cx="12156436" cy="3340098"/>
            </a:xfrm>
            <a:prstGeom prst="rect">
              <a:avLst/>
            </a:prstGeom>
          </p:spPr>
          <p:txBody>
            <a:bodyPr lIns="0" tIns="0" rIns="0" bIns="0" rtlCol="0" anchor="t"/>
            <a:lstStyle/>
            <a:p>
              <a:pPr algn="ctr">
                <a:lnSpc>
                  <a:spcPts val="3888"/>
                </a:lnSpc>
              </a:pPr>
              <a:r>
                <a:rPr lang="en-US" sz="2800" dirty="0">
                  <a:solidFill>
                    <a:srgbClr val="000000"/>
                  </a:solidFill>
                  <a:latin typeface="Times New Roman"/>
                  <a:ea typeface="Times New Roman"/>
                  <a:cs typeface="Times New Roman"/>
                  <a:sym typeface="Times New Roman"/>
                </a:rPr>
                <a:t>         </a:t>
              </a:r>
              <a:endParaRPr lang="en-US" sz="2400" b="1" dirty="0">
                <a:solidFill>
                  <a:srgbClr val="000000"/>
                </a:solidFill>
                <a:latin typeface="Times New Roman Bold"/>
                <a:ea typeface="Times New Roman Bold"/>
                <a:cs typeface="Times New Roman Bold"/>
                <a:sym typeface="Times New Roman Bold"/>
              </a:endParaRPr>
            </a:p>
            <a:p>
              <a:pPr algn="ctr">
                <a:lnSpc>
                  <a:spcPts val="3240"/>
                </a:lnSpc>
              </a:pPr>
              <a:endParaRPr lang="en-US" sz="2400" b="1" dirty="0">
                <a:solidFill>
                  <a:srgbClr val="000000"/>
                </a:solidFill>
                <a:latin typeface="Times New Roman Bold"/>
                <a:ea typeface="Times New Roman Bold"/>
                <a:cs typeface="Times New Roman Bold"/>
                <a:sym typeface="Times New Roman Bold"/>
              </a:endParaRPr>
            </a:p>
          </p:txBody>
        </p:sp>
      </p:grpSp>
    </p:spTree>
    <p:extLst>
      <p:ext uri="{BB962C8B-B14F-4D97-AF65-F5344CB8AC3E}">
        <p14:creationId xmlns:p14="http://schemas.microsoft.com/office/powerpoint/2010/main" val="1657221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5F245-80DF-54D4-3631-DB821FDA0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08123-23F9-5610-4A3F-D0946DFCDC2D}"/>
              </a:ext>
            </a:extLst>
          </p:cNvPr>
          <p:cNvSpPr>
            <a:spLocks noGrp="1"/>
          </p:cNvSpPr>
          <p:nvPr>
            <p:ph type="title"/>
          </p:nvPr>
        </p:nvSpPr>
        <p:spPr/>
        <p:txBody>
          <a:bodyPr/>
          <a:lstStyle/>
          <a:p>
            <a:r>
              <a:rPr lang="en-US" b="1" dirty="0">
                <a:solidFill>
                  <a:srgbClr val="000000"/>
                </a:solidFill>
                <a:latin typeface="Times New Roman Bold"/>
                <a:ea typeface="Times New Roman Bold"/>
                <a:cs typeface="Times New Roman Bold"/>
                <a:sym typeface="Times New Roman Bold"/>
              </a:rPr>
              <a:t>Contents</a:t>
            </a:r>
            <a:br>
              <a:rPr lang="en-US" b="1" dirty="0">
                <a:solidFill>
                  <a:srgbClr val="000000"/>
                </a:solidFill>
                <a:latin typeface="Times New Roman Bold"/>
                <a:ea typeface="Times New Roman Bold"/>
                <a:cs typeface="Times New Roman Bold"/>
                <a:sym typeface="Times New Roman Bold"/>
              </a:rPr>
            </a:br>
            <a:endParaRPr lang="en-IN" dirty="0"/>
          </a:p>
        </p:txBody>
      </p:sp>
      <p:sp>
        <p:nvSpPr>
          <p:cNvPr id="3" name="Content Placeholder 2">
            <a:extLst>
              <a:ext uri="{FF2B5EF4-FFF2-40B4-BE49-F238E27FC236}">
                <a16:creationId xmlns:a16="http://schemas.microsoft.com/office/drawing/2014/main" id="{F1EA297C-C0B5-D17B-6619-768116D37C32}"/>
              </a:ext>
            </a:extLst>
          </p:cNvPr>
          <p:cNvSpPr>
            <a:spLocks noGrp="1"/>
          </p:cNvSpPr>
          <p:nvPr>
            <p:ph idx="1"/>
          </p:nvPr>
        </p:nvSpPr>
        <p:spPr/>
        <p:txBody>
          <a:bodyPr>
            <a:normAutofit fontScale="55000" lnSpcReduction="20000"/>
          </a:bodyPr>
          <a:lstStyle/>
          <a:p>
            <a:pPr marL="285750" indent="-285750"/>
            <a:r>
              <a:rPr lang="en-IN" sz="3600" dirty="0">
                <a:latin typeface="Times New Roman" panose="02020603050405020304" pitchFamily="18" charset="0"/>
                <a:cs typeface="Times New Roman" panose="02020603050405020304" pitchFamily="18" charset="0"/>
              </a:rPr>
              <a:t>Introduction</a:t>
            </a:r>
          </a:p>
          <a:p>
            <a:pPr marL="285750" indent="-285750"/>
            <a:r>
              <a:rPr lang="en-IN" sz="3600" dirty="0">
                <a:latin typeface="Times New Roman" panose="02020603050405020304" pitchFamily="18" charset="0"/>
                <a:cs typeface="Times New Roman" panose="02020603050405020304" pitchFamily="18" charset="0"/>
              </a:rPr>
              <a:t>Motivation</a:t>
            </a:r>
          </a:p>
          <a:p>
            <a:pPr marL="285750" indent="-285750"/>
            <a:r>
              <a:rPr lang="en-IN" sz="3600" dirty="0">
                <a:latin typeface="Times New Roman" panose="02020603050405020304" pitchFamily="18" charset="0"/>
                <a:cs typeface="Times New Roman" panose="02020603050405020304" pitchFamily="18" charset="0"/>
              </a:rPr>
              <a:t>Problem Statement</a:t>
            </a:r>
          </a:p>
          <a:p>
            <a:pPr marL="285750" indent="-285750"/>
            <a:r>
              <a:rPr lang="en-IN" sz="3600" dirty="0">
                <a:latin typeface="Times New Roman" panose="02020603050405020304" pitchFamily="18" charset="0"/>
                <a:cs typeface="Times New Roman" panose="02020603050405020304" pitchFamily="18" charset="0"/>
              </a:rPr>
              <a:t>Literature Review: </a:t>
            </a:r>
            <a:r>
              <a:rPr lang="en-US" sz="3600" dirty="0">
                <a:latin typeface="Times New Roman" panose="02020603050405020304" pitchFamily="18" charset="0"/>
                <a:cs typeface="Times New Roman" panose="02020603050405020304" pitchFamily="18" charset="0"/>
              </a:rPr>
              <a:t>Existing systems/Review of Literature (more focus will be here, bring 5/10 research papers/projects (journals preferred) to support your proposed methodology)</a:t>
            </a:r>
            <a:endParaRPr lang="en-IN" sz="3600" dirty="0">
              <a:latin typeface="Times New Roman" panose="02020603050405020304" pitchFamily="18" charset="0"/>
              <a:cs typeface="Times New Roman" panose="02020603050405020304" pitchFamily="18" charset="0"/>
            </a:endParaRPr>
          </a:p>
          <a:p>
            <a:pPr marL="2114550" lvl="4" indent="-285750"/>
            <a:r>
              <a:rPr lang="en-IN" sz="3600" dirty="0">
                <a:latin typeface="Times New Roman" panose="02020603050405020304" pitchFamily="18" charset="0"/>
                <a:cs typeface="Times New Roman" panose="02020603050405020304" pitchFamily="18" charset="0"/>
              </a:rPr>
              <a:t>Comparison of the Models (from Literature Review)</a:t>
            </a:r>
          </a:p>
          <a:p>
            <a:pPr marL="285750" indent="-285750"/>
            <a:r>
              <a:rPr lang="en-IN" sz="3600" dirty="0">
                <a:latin typeface="Times New Roman" panose="02020603050405020304" pitchFamily="18" charset="0"/>
                <a:cs typeface="Times New Roman" panose="02020603050405020304" pitchFamily="18" charset="0"/>
              </a:rPr>
              <a:t>Research Gaps: Drawbacks of existing methods/systems in the literature</a:t>
            </a:r>
          </a:p>
          <a:p>
            <a:pPr marL="285750" indent="-285750"/>
            <a:r>
              <a:rPr lang="en-IN" sz="3600" dirty="0">
                <a:latin typeface="Times New Roman" panose="02020603050405020304" pitchFamily="18" charset="0"/>
                <a:cs typeface="Times New Roman" panose="02020603050405020304" pitchFamily="18" charset="0"/>
              </a:rPr>
              <a:t>Proposed Methodology: </a:t>
            </a:r>
            <a:r>
              <a:rPr lang="en-US" sz="3600" dirty="0">
                <a:latin typeface="Times New Roman" panose="02020603050405020304" pitchFamily="18" charset="0"/>
                <a:cs typeface="Times New Roman" panose="02020603050405020304" pitchFamily="18" charset="0"/>
              </a:rPr>
              <a:t>Proposed system/Proposed system architecture (be clear with input output, tentative proposed methodology diagram)</a:t>
            </a:r>
          </a:p>
          <a:p>
            <a:pPr marL="285750" indent="-285750"/>
            <a:r>
              <a:rPr lang="en-IN" sz="3600" dirty="0">
                <a:latin typeface="Times New Roman" panose="02020603050405020304" pitchFamily="18" charset="0"/>
                <a:cs typeface="Times New Roman" panose="02020603050405020304" pitchFamily="18" charset="0"/>
              </a:rPr>
              <a:t>Hardware / Software Requirements</a:t>
            </a:r>
          </a:p>
          <a:p>
            <a:pPr marL="285750" indent="-285750"/>
            <a:r>
              <a:rPr lang="en-IN" sz="3600" dirty="0">
                <a:latin typeface="Times New Roman" panose="02020603050405020304" pitchFamily="18" charset="0"/>
                <a:cs typeface="Times New Roman" panose="02020603050405020304" pitchFamily="18" charset="0"/>
              </a:rPr>
              <a:t>Hardware Cost Estimation: in case of hardware based projects</a:t>
            </a:r>
          </a:p>
          <a:p>
            <a:pPr marL="285750" indent="-285750"/>
            <a:r>
              <a:rPr lang="en-IN" sz="3600" dirty="0">
                <a:latin typeface="Times New Roman" panose="02020603050405020304" pitchFamily="18" charset="0"/>
                <a:cs typeface="Times New Roman" panose="02020603050405020304" pitchFamily="18" charset="0"/>
              </a:rPr>
              <a:t>References</a:t>
            </a:r>
          </a:p>
          <a:p>
            <a:pPr marL="285750" indent="-285750"/>
            <a:endParaRPr lang="en-IN" sz="3600" dirty="0">
              <a:latin typeface="Times New Roman" panose="02020603050405020304" pitchFamily="18" charset="0"/>
              <a:cs typeface="Times New Roman" panose="02020603050405020304" pitchFamily="18" charset="0"/>
            </a:endParaRPr>
          </a:p>
          <a:p>
            <a:pPr marL="285750" indent="-285750"/>
            <a:endParaRPr lang="en-IN" sz="3600" dirty="0">
              <a:latin typeface="Times New Roman" panose="02020603050405020304" pitchFamily="18" charset="0"/>
              <a:cs typeface="Times New Roman" panose="02020603050405020304" pitchFamily="18" charset="0"/>
            </a:endParaRPr>
          </a:p>
          <a:p>
            <a:pPr marL="285750" indent="-285750"/>
            <a:endParaRPr lang="en-IN" sz="3600" dirty="0">
              <a:latin typeface="Times New Roman" panose="02020603050405020304" pitchFamily="18" charset="0"/>
              <a:cs typeface="Times New Roman" panose="02020603050405020304" pitchFamily="18" charset="0"/>
            </a:endParaRPr>
          </a:p>
          <a:p>
            <a:endParaRPr lang="en-IN" dirty="0"/>
          </a:p>
        </p:txBody>
      </p:sp>
      <p:sp>
        <p:nvSpPr>
          <p:cNvPr id="4" name="Freeform 5">
            <a:extLst>
              <a:ext uri="{FF2B5EF4-FFF2-40B4-BE49-F238E27FC236}">
                <a16:creationId xmlns:a16="http://schemas.microsoft.com/office/drawing/2014/main" id="{23621230-E9A1-3DBC-5567-EBF5122DCBED}"/>
              </a:ext>
            </a:extLst>
          </p:cNvPr>
          <p:cNvSpPr/>
          <p:nvPr/>
        </p:nvSpPr>
        <p:spPr>
          <a:xfrm>
            <a:off x="9096341" y="0"/>
            <a:ext cx="3058487" cy="1100236"/>
          </a:xfrm>
          <a:custGeom>
            <a:avLst/>
            <a:gdLst/>
            <a:ahLst/>
            <a:cxnLst/>
            <a:rect l="l" t="t" r="r" b="b"/>
            <a:pathLst>
              <a:path w="4017489" h="1650316">
                <a:moveTo>
                  <a:pt x="0" y="0"/>
                </a:moveTo>
                <a:lnTo>
                  <a:pt x="4017489" y="0"/>
                </a:lnTo>
                <a:lnTo>
                  <a:pt x="4017489" y="1650316"/>
                </a:lnTo>
                <a:lnTo>
                  <a:pt x="0" y="1650316"/>
                </a:lnTo>
                <a:lnTo>
                  <a:pt x="0" y="0"/>
                </a:lnTo>
                <a:close/>
              </a:path>
            </a:pathLst>
          </a:custGeom>
          <a:blipFill>
            <a:blip r:embed="rId2"/>
            <a:stretch>
              <a:fillRect/>
            </a:stretch>
          </a:blipFill>
        </p:spPr>
        <p:txBody>
          <a:bodyPr/>
          <a:lstStyle/>
          <a:p>
            <a:endParaRPr lang="en-IN"/>
          </a:p>
        </p:txBody>
      </p:sp>
      <p:sp>
        <p:nvSpPr>
          <p:cNvPr id="5" name="Date Placeholder 4">
            <a:extLst>
              <a:ext uri="{FF2B5EF4-FFF2-40B4-BE49-F238E27FC236}">
                <a16:creationId xmlns:a16="http://schemas.microsoft.com/office/drawing/2014/main" id="{57D73909-61AB-8627-559D-832C9731E343}"/>
              </a:ext>
            </a:extLst>
          </p:cNvPr>
          <p:cNvSpPr>
            <a:spLocks noGrp="1"/>
          </p:cNvSpPr>
          <p:nvPr>
            <p:ph type="dt" sz="half" idx="10"/>
          </p:nvPr>
        </p:nvSpPr>
        <p:spPr/>
        <p:txBody>
          <a:bodyPr/>
          <a:lstStyle/>
          <a:p>
            <a:fld id="{481CDC1F-1F8E-441D-B99F-CBB0A37C91EA}" type="datetime1">
              <a:rPr lang="en-IN" smtClean="0"/>
              <a:t>03-08-2026</a:t>
            </a:fld>
            <a:endParaRPr lang="en-IN"/>
          </a:p>
        </p:txBody>
      </p:sp>
      <p:sp>
        <p:nvSpPr>
          <p:cNvPr id="6" name="Footer Placeholder 5">
            <a:extLst>
              <a:ext uri="{FF2B5EF4-FFF2-40B4-BE49-F238E27FC236}">
                <a16:creationId xmlns:a16="http://schemas.microsoft.com/office/drawing/2014/main" id="{B958A3A5-94DD-07B7-3360-967AB3EB6771}"/>
              </a:ext>
            </a:extLst>
          </p:cNvPr>
          <p:cNvSpPr>
            <a:spLocks noGrp="1"/>
          </p:cNvSpPr>
          <p:nvPr>
            <p:ph type="ftr" sz="quarter" idx="11"/>
          </p:nvPr>
        </p:nvSpPr>
        <p:spPr/>
        <p:txBody>
          <a:bodyPr/>
          <a:lstStyle/>
          <a:p>
            <a:r>
              <a:rPr lang="en-IN" dirty="0"/>
              <a:t>Department of AIML</a:t>
            </a:r>
          </a:p>
        </p:txBody>
      </p:sp>
      <p:sp>
        <p:nvSpPr>
          <p:cNvPr id="7" name="Slide Number Placeholder 6">
            <a:extLst>
              <a:ext uri="{FF2B5EF4-FFF2-40B4-BE49-F238E27FC236}">
                <a16:creationId xmlns:a16="http://schemas.microsoft.com/office/drawing/2014/main" id="{ECA9192D-D0F0-48B6-85E5-CC57C4C89448}"/>
              </a:ext>
            </a:extLst>
          </p:cNvPr>
          <p:cNvSpPr>
            <a:spLocks noGrp="1"/>
          </p:cNvSpPr>
          <p:nvPr>
            <p:ph type="sldNum" sz="quarter" idx="12"/>
          </p:nvPr>
        </p:nvSpPr>
        <p:spPr/>
        <p:txBody>
          <a:bodyPr/>
          <a:lstStyle/>
          <a:p>
            <a:fld id="{D647149E-29F4-4E68-BA9F-E94CFCC48872}" type="slidenum">
              <a:rPr lang="en-IN" smtClean="0"/>
              <a:t>2</a:t>
            </a:fld>
            <a:endParaRPr lang="en-IN"/>
          </a:p>
        </p:txBody>
      </p:sp>
    </p:spTree>
    <p:extLst>
      <p:ext uri="{BB962C8B-B14F-4D97-AF65-F5344CB8AC3E}">
        <p14:creationId xmlns:p14="http://schemas.microsoft.com/office/powerpoint/2010/main" val="590744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CE36F-6416-15A9-472F-EFA46633620F}"/>
              </a:ext>
            </a:extLst>
          </p:cNvPr>
          <p:cNvSpPr>
            <a:spLocks noGrp="1"/>
          </p:cNvSpPr>
          <p:nvPr>
            <p:ph type="title"/>
          </p:nvPr>
        </p:nvSpPr>
        <p:spPr>
          <a:xfrm>
            <a:off x="838200" y="365125"/>
            <a:ext cx="10515600" cy="969689"/>
          </a:xfrm>
        </p:spPr>
        <p:txBody>
          <a:bodyPr/>
          <a:lstStyle/>
          <a:p>
            <a:r>
              <a:rPr lang="en-IN" dirty="0">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48CB1B10-6C02-A967-F6BF-35DCE07A9788}"/>
              </a:ext>
            </a:extLst>
          </p:cNvPr>
          <p:cNvSpPr>
            <a:spLocks noGrp="1"/>
          </p:cNvSpPr>
          <p:nvPr>
            <p:ph idx="1"/>
          </p:nvPr>
        </p:nvSpPr>
        <p:spPr>
          <a:xfrm>
            <a:off x="838200" y="1234732"/>
            <a:ext cx="10515600" cy="1807779"/>
          </a:xfrm>
        </p:spPr>
        <p:txBody>
          <a:bodyPr>
            <a:noAutofit/>
          </a:bodyPr>
          <a:lstStyle/>
          <a:p>
            <a:r>
              <a:rPr lang="en-US" sz="1600" dirty="0"/>
              <a:t>Corporate disclosures are one of the most reliable sources of information for understanding a company's financial health, operational risks, and future outlook. Public companies across different countries publish annual reports through regulatory bodies such as the </a:t>
            </a:r>
            <a:r>
              <a:rPr lang="en-US" sz="1600" b="1" dirty="0"/>
              <a:t>SEC (USA)</a:t>
            </a:r>
            <a:r>
              <a:rPr lang="en-US" sz="1600" dirty="0"/>
              <a:t> and </a:t>
            </a:r>
            <a:r>
              <a:rPr lang="en-US" sz="1600" b="1" dirty="0"/>
              <a:t>SEBI/NSE/BSE (India)</a:t>
            </a:r>
            <a:r>
              <a:rPr lang="en-US" sz="1600" dirty="0"/>
              <a:t>. However, manually comparing these lengthy reports across years is time-consuming and often fails to identify subtle but significant changes in risk disclosures.</a:t>
            </a:r>
          </a:p>
          <a:p>
            <a:r>
              <a:rPr lang="en-US" sz="1600" dirty="0" err="1"/>
              <a:t>GlobalRisk</a:t>
            </a:r>
            <a:r>
              <a:rPr lang="en-US" sz="1600" dirty="0"/>
              <a:t> AI is an intelligent document analysis platform that leverages </a:t>
            </a:r>
            <a:r>
              <a:rPr lang="en-US" sz="1600" b="1" dirty="0"/>
              <a:t>Large Language Models (LLMs)</a:t>
            </a:r>
            <a:r>
              <a:rPr lang="en-US" sz="1600" dirty="0"/>
              <a:t>, </a:t>
            </a:r>
            <a:r>
              <a:rPr lang="en-US" sz="1600" b="1" dirty="0"/>
              <a:t>Retrieval-Augmented Generation (RAG)</a:t>
            </a:r>
            <a:r>
              <a:rPr lang="en-US" sz="1600" dirty="0"/>
              <a:t>, </a:t>
            </a:r>
            <a:r>
              <a:rPr lang="en-US" sz="1600" b="1" dirty="0"/>
              <a:t>semantic embeddings</a:t>
            </a:r>
            <a:r>
              <a:rPr lang="en-US" sz="1600" dirty="0"/>
              <a:t>, and </a:t>
            </a:r>
            <a:r>
              <a:rPr lang="en-US" sz="1600" b="1" dirty="0"/>
              <a:t>Natural Language Processing (NLP)</a:t>
            </a:r>
            <a:r>
              <a:rPr lang="en-US" sz="1600" dirty="0"/>
              <a:t> to automatically detect newly introduced risks, removed disclosures, language severity changes, and evolving corporate risk trends across multiple financial markets</a:t>
            </a:r>
          </a:p>
        </p:txBody>
      </p:sp>
      <p:sp>
        <p:nvSpPr>
          <p:cNvPr id="4" name="Date Placeholder 3">
            <a:extLst>
              <a:ext uri="{FF2B5EF4-FFF2-40B4-BE49-F238E27FC236}">
                <a16:creationId xmlns:a16="http://schemas.microsoft.com/office/drawing/2014/main" id="{ED80C248-6530-E5C0-66F7-282E96F9001A}"/>
              </a:ext>
            </a:extLst>
          </p:cNvPr>
          <p:cNvSpPr>
            <a:spLocks noGrp="1"/>
          </p:cNvSpPr>
          <p:nvPr>
            <p:ph type="dt" sz="half" idx="10"/>
          </p:nvPr>
        </p:nvSpPr>
        <p:spPr/>
        <p:txBody>
          <a:bodyPr/>
          <a:lstStyle/>
          <a:p>
            <a:fld id="{D321C8C1-5BD5-4701-BC9C-FC1959089BFB}" type="datetime1">
              <a:rPr lang="en-IN" smtClean="0"/>
              <a:t>03-08-2026</a:t>
            </a:fld>
            <a:endParaRPr lang="en-IN"/>
          </a:p>
        </p:txBody>
      </p:sp>
      <p:sp>
        <p:nvSpPr>
          <p:cNvPr id="5" name="Footer Placeholder 4">
            <a:extLst>
              <a:ext uri="{FF2B5EF4-FFF2-40B4-BE49-F238E27FC236}">
                <a16:creationId xmlns:a16="http://schemas.microsoft.com/office/drawing/2014/main" id="{821BE9F9-E43F-DC66-9601-F74D02582C6A}"/>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7FA14EF9-FC99-8758-61CB-918930EAEAE8}"/>
              </a:ext>
            </a:extLst>
          </p:cNvPr>
          <p:cNvSpPr>
            <a:spLocks noGrp="1"/>
          </p:cNvSpPr>
          <p:nvPr>
            <p:ph type="sldNum" sz="quarter" idx="12"/>
          </p:nvPr>
        </p:nvSpPr>
        <p:spPr/>
        <p:txBody>
          <a:bodyPr/>
          <a:lstStyle/>
          <a:p>
            <a:fld id="{D647149E-29F4-4E68-BA9F-E94CFCC48872}" type="slidenum">
              <a:rPr lang="en-IN" smtClean="0"/>
              <a:t>3</a:t>
            </a:fld>
            <a:endParaRPr lang="en-IN"/>
          </a:p>
        </p:txBody>
      </p:sp>
      <p:sp>
        <p:nvSpPr>
          <p:cNvPr id="7" name="Title 1">
            <a:extLst>
              <a:ext uri="{FF2B5EF4-FFF2-40B4-BE49-F238E27FC236}">
                <a16:creationId xmlns:a16="http://schemas.microsoft.com/office/drawing/2014/main" id="{C3116EF3-C88E-DE50-3A71-7634884C2F17}"/>
              </a:ext>
            </a:extLst>
          </p:cNvPr>
          <p:cNvSpPr txBox="1">
            <a:spLocks/>
          </p:cNvSpPr>
          <p:nvPr/>
        </p:nvSpPr>
        <p:spPr>
          <a:xfrm>
            <a:off x="838200" y="3146370"/>
            <a:ext cx="10515600" cy="9696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Motivation</a:t>
            </a:r>
            <a:endParaRPr lang="en-IN" dirty="0"/>
          </a:p>
        </p:txBody>
      </p:sp>
      <p:sp>
        <p:nvSpPr>
          <p:cNvPr id="10" name="Content Placeholder 2">
            <a:extLst>
              <a:ext uri="{FF2B5EF4-FFF2-40B4-BE49-F238E27FC236}">
                <a16:creationId xmlns:a16="http://schemas.microsoft.com/office/drawing/2014/main" id="{5B2AD43A-5314-2709-CB62-1CA74DF00CDE}"/>
              </a:ext>
            </a:extLst>
          </p:cNvPr>
          <p:cNvSpPr txBox="1">
            <a:spLocks/>
          </p:cNvSpPr>
          <p:nvPr/>
        </p:nvSpPr>
        <p:spPr>
          <a:xfrm>
            <a:off x="838200" y="4188373"/>
            <a:ext cx="10515600" cy="18077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Annual reports often exceed </a:t>
            </a:r>
            <a:r>
              <a:rPr lang="en-US" sz="1800" b="1" dirty="0"/>
              <a:t>300–500 pages</a:t>
            </a:r>
            <a:r>
              <a:rPr lang="en-US" sz="1800" dirty="0"/>
              <a:t>, making manual analysis difficult.</a:t>
            </a:r>
          </a:p>
          <a:p>
            <a:r>
              <a:rPr lang="en-US" sz="1800" dirty="0"/>
              <a:t>Important disclosure changes can indicate emerging financial, legal, cybersecurity, or regulatory risks.</a:t>
            </a:r>
          </a:p>
          <a:p>
            <a:r>
              <a:rPr lang="en-US" sz="1800" dirty="0"/>
              <a:t>Financial analysts spend considerable time comparing reports across multiple years and companies</a:t>
            </a:r>
          </a:p>
          <a:p>
            <a:r>
              <a:rPr lang="en-US" sz="1800" dirty="0"/>
              <a:t>There is no unified AI-powered platform capable of analyzing corporate disclosures from both U.S. and Indian financial markets. </a:t>
            </a:r>
          </a:p>
        </p:txBody>
      </p:sp>
    </p:spTree>
    <p:extLst>
      <p:ext uri="{BB962C8B-B14F-4D97-AF65-F5344CB8AC3E}">
        <p14:creationId xmlns:p14="http://schemas.microsoft.com/office/powerpoint/2010/main" val="3357254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8714C-1811-82B2-DDD0-461A9C0D6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04E14-F742-E1FB-6748-62E6B027B736}"/>
              </a:ext>
            </a:extLst>
          </p:cNvPr>
          <p:cNvSpPr>
            <a:spLocks noGrp="1"/>
          </p:cNvSpPr>
          <p:nvPr>
            <p:ph type="title"/>
          </p:nvPr>
        </p:nvSpPr>
        <p:spPr>
          <a:xfrm>
            <a:off x="838200" y="365125"/>
            <a:ext cx="10515600" cy="969689"/>
          </a:xfrm>
        </p:spPr>
        <p:txBody>
          <a:bodyPr/>
          <a:lstStyle/>
          <a:p>
            <a:r>
              <a:rPr lang="en-IN" dirty="0">
                <a:latin typeface="Times New Roman" panose="02020603050405020304" pitchFamily="18" charset="0"/>
                <a:cs typeface="Times New Roman" panose="02020603050405020304" pitchFamily="18" charset="0"/>
              </a:rPr>
              <a:t>Problem Statement</a:t>
            </a:r>
            <a:endParaRPr lang="en-IN" dirty="0"/>
          </a:p>
        </p:txBody>
      </p:sp>
      <p:sp>
        <p:nvSpPr>
          <p:cNvPr id="3" name="Content Placeholder 2">
            <a:extLst>
              <a:ext uri="{FF2B5EF4-FFF2-40B4-BE49-F238E27FC236}">
                <a16:creationId xmlns:a16="http://schemas.microsoft.com/office/drawing/2014/main" id="{F56C999F-1CBC-F298-8B5D-686754E5B3ED}"/>
              </a:ext>
            </a:extLst>
          </p:cNvPr>
          <p:cNvSpPr>
            <a:spLocks noGrp="1"/>
          </p:cNvSpPr>
          <p:nvPr>
            <p:ph idx="1"/>
          </p:nvPr>
        </p:nvSpPr>
        <p:spPr>
          <a:xfrm>
            <a:off x="838200" y="1186247"/>
            <a:ext cx="10515600" cy="1807779"/>
          </a:xfrm>
        </p:spPr>
        <p:txBody>
          <a:bodyPr>
            <a:normAutofit/>
          </a:bodyPr>
          <a:lstStyle/>
          <a:p>
            <a:r>
              <a:rPr lang="en-US" sz="2000" dirty="0"/>
              <a:t>Public companies publish extensive annual reports containing critical information about financial performance and business risks. Analyzing these reports manually is labor-intensive and challenging, especially when comparing multiple years. Current solutions provide limited support for identifying meaningful changes in disclosures, creating the need for an AI-powered system that automatically detects, analyzes, and explains evolving corporate risks.</a:t>
            </a:r>
          </a:p>
        </p:txBody>
      </p:sp>
      <p:sp>
        <p:nvSpPr>
          <p:cNvPr id="4" name="Date Placeholder 3">
            <a:extLst>
              <a:ext uri="{FF2B5EF4-FFF2-40B4-BE49-F238E27FC236}">
                <a16:creationId xmlns:a16="http://schemas.microsoft.com/office/drawing/2014/main" id="{8AE3DAA5-0576-F311-351A-D4372547733C}"/>
              </a:ext>
            </a:extLst>
          </p:cNvPr>
          <p:cNvSpPr>
            <a:spLocks noGrp="1"/>
          </p:cNvSpPr>
          <p:nvPr>
            <p:ph type="dt" sz="half" idx="10"/>
          </p:nvPr>
        </p:nvSpPr>
        <p:spPr/>
        <p:txBody>
          <a:bodyPr/>
          <a:lstStyle/>
          <a:p>
            <a:fld id="{D321C8C1-5BD5-4701-BC9C-FC1959089BFB}" type="datetime1">
              <a:rPr lang="en-IN" smtClean="0"/>
              <a:t>03-08-2026</a:t>
            </a:fld>
            <a:endParaRPr lang="en-IN"/>
          </a:p>
        </p:txBody>
      </p:sp>
      <p:sp>
        <p:nvSpPr>
          <p:cNvPr id="5" name="Footer Placeholder 4">
            <a:extLst>
              <a:ext uri="{FF2B5EF4-FFF2-40B4-BE49-F238E27FC236}">
                <a16:creationId xmlns:a16="http://schemas.microsoft.com/office/drawing/2014/main" id="{11240226-93C9-7945-C551-DDEF6397E7A0}"/>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068AB180-2FE5-FE5C-3F12-85726F70B4E0}"/>
              </a:ext>
            </a:extLst>
          </p:cNvPr>
          <p:cNvSpPr>
            <a:spLocks noGrp="1"/>
          </p:cNvSpPr>
          <p:nvPr>
            <p:ph type="sldNum" sz="quarter" idx="12"/>
          </p:nvPr>
        </p:nvSpPr>
        <p:spPr/>
        <p:txBody>
          <a:bodyPr/>
          <a:lstStyle/>
          <a:p>
            <a:fld id="{D647149E-29F4-4E68-BA9F-E94CFCC48872}" type="slidenum">
              <a:rPr lang="en-IN" smtClean="0"/>
              <a:t>4</a:t>
            </a:fld>
            <a:endParaRPr lang="en-IN"/>
          </a:p>
        </p:txBody>
      </p:sp>
      <p:sp>
        <p:nvSpPr>
          <p:cNvPr id="7" name="Title 1">
            <a:extLst>
              <a:ext uri="{FF2B5EF4-FFF2-40B4-BE49-F238E27FC236}">
                <a16:creationId xmlns:a16="http://schemas.microsoft.com/office/drawing/2014/main" id="{0F7BF489-F9F6-6C51-07CE-04648281D969}"/>
              </a:ext>
            </a:extLst>
          </p:cNvPr>
          <p:cNvSpPr txBox="1">
            <a:spLocks/>
          </p:cNvSpPr>
          <p:nvPr/>
        </p:nvSpPr>
        <p:spPr>
          <a:xfrm>
            <a:off x="838200" y="2658733"/>
            <a:ext cx="10515600" cy="9696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Proposed Solution</a:t>
            </a:r>
            <a:endParaRPr lang="en-IN" dirty="0"/>
          </a:p>
        </p:txBody>
      </p:sp>
      <p:sp>
        <p:nvSpPr>
          <p:cNvPr id="10" name="Content Placeholder 2">
            <a:extLst>
              <a:ext uri="{FF2B5EF4-FFF2-40B4-BE49-F238E27FC236}">
                <a16:creationId xmlns:a16="http://schemas.microsoft.com/office/drawing/2014/main" id="{CD389673-1BDE-0FF6-A098-9AA0F5FC02D6}"/>
              </a:ext>
            </a:extLst>
          </p:cNvPr>
          <p:cNvSpPr txBox="1">
            <a:spLocks/>
          </p:cNvSpPr>
          <p:nvPr/>
        </p:nvSpPr>
        <p:spPr>
          <a:xfrm>
            <a:off x="838200" y="3714422"/>
            <a:ext cx="10515600" cy="18077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err="1"/>
              <a:t>GlobalRisk</a:t>
            </a:r>
            <a:r>
              <a:rPr lang="en-US" sz="2000" b="1" dirty="0"/>
              <a:t> AI</a:t>
            </a:r>
            <a:r>
              <a:rPr lang="en-US" sz="2000" dirty="0"/>
              <a:t> is an AI-powered financial disclosure intelligence platform that automatically analyzes and compares annual corporate reports from multiple financial markets (SEC–USA, NSE/BSE–India) to identify significant changes in risk disclosures.</a:t>
            </a:r>
          </a:p>
          <a:p>
            <a:r>
              <a:rPr lang="en-US" sz="2000" dirty="0"/>
              <a:t>The system leverages </a:t>
            </a:r>
            <a:r>
              <a:rPr lang="en-US" sz="2000" b="1" dirty="0"/>
              <a:t>Large Language Models (LLMs)</a:t>
            </a:r>
            <a:r>
              <a:rPr lang="en-US" sz="2000" dirty="0"/>
              <a:t>, </a:t>
            </a:r>
            <a:r>
              <a:rPr lang="en-US" sz="2000" b="1" dirty="0"/>
              <a:t>Retrieval-Augmented Generation (RAG)</a:t>
            </a:r>
            <a:r>
              <a:rPr lang="en-US" sz="2000" dirty="0"/>
              <a:t>, </a:t>
            </a:r>
            <a:r>
              <a:rPr lang="en-US" sz="2000" b="1" dirty="0"/>
              <a:t>semantic embeddings</a:t>
            </a:r>
            <a:r>
              <a:rPr lang="en-US" sz="2000" dirty="0"/>
              <a:t>, and </a:t>
            </a:r>
            <a:r>
              <a:rPr lang="en-US" sz="2000" b="1" dirty="0"/>
              <a:t>Natural Language Processing (NLP)</a:t>
            </a:r>
            <a:r>
              <a:rPr lang="en-US" sz="2000" dirty="0"/>
              <a:t> to detect newly introduced risks, removed disclosures, changes in risk severity, and shifts in corporate tone. By transforming lengthy financial reports into explainable and actionable insights, the platform enables investors, analysts, regulators, and researchers to make faster and more informed decisions.</a:t>
            </a:r>
          </a:p>
        </p:txBody>
      </p:sp>
    </p:spTree>
    <p:extLst>
      <p:ext uri="{BB962C8B-B14F-4D97-AF65-F5344CB8AC3E}">
        <p14:creationId xmlns:p14="http://schemas.microsoft.com/office/powerpoint/2010/main" val="308555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FE60E-D88E-4C5A-4E7B-A7ED6BB35160}"/>
              </a:ext>
            </a:extLst>
          </p:cNvPr>
          <p:cNvSpPr>
            <a:spLocks noGrp="1"/>
          </p:cNvSpPr>
          <p:nvPr>
            <p:ph type="title"/>
          </p:nvPr>
        </p:nvSpPr>
        <p:spPr/>
        <p:txBody>
          <a:bodyPr/>
          <a:lstStyle/>
          <a:p>
            <a:r>
              <a:rPr lang="en-US" b="1" dirty="0">
                <a:solidFill>
                  <a:srgbClr val="000000"/>
                </a:solidFill>
                <a:latin typeface="Times New Roman Bold"/>
                <a:ea typeface="Times New Roman Bold"/>
                <a:cs typeface="Times New Roman Bold"/>
                <a:sym typeface="Times New Roman Bold"/>
              </a:rPr>
              <a:t>Literature Review</a:t>
            </a:r>
            <a:br>
              <a:rPr lang="en-US" b="1" dirty="0">
                <a:solidFill>
                  <a:srgbClr val="000000"/>
                </a:solidFill>
                <a:latin typeface="Times New Roman Bold"/>
                <a:ea typeface="Times New Roman Bold"/>
                <a:cs typeface="Times New Roman Bold"/>
                <a:sym typeface="Times New Roman Bold"/>
              </a:rPr>
            </a:br>
            <a:endParaRPr lang="en-IN" dirty="0"/>
          </a:p>
        </p:txBody>
      </p:sp>
      <p:sp>
        <p:nvSpPr>
          <p:cNvPr id="4" name="Freeform 5">
            <a:extLst>
              <a:ext uri="{FF2B5EF4-FFF2-40B4-BE49-F238E27FC236}">
                <a16:creationId xmlns:a16="http://schemas.microsoft.com/office/drawing/2014/main" id="{CC551BE3-B158-A82A-0DDB-0E9C1D678A6E}"/>
              </a:ext>
            </a:extLst>
          </p:cNvPr>
          <p:cNvSpPr/>
          <p:nvPr/>
        </p:nvSpPr>
        <p:spPr>
          <a:xfrm>
            <a:off x="9096341" y="0"/>
            <a:ext cx="3058487" cy="1100236"/>
          </a:xfrm>
          <a:custGeom>
            <a:avLst/>
            <a:gdLst/>
            <a:ahLst/>
            <a:cxnLst/>
            <a:rect l="l" t="t" r="r" b="b"/>
            <a:pathLst>
              <a:path w="4017489" h="1650316">
                <a:moveTo>
                  <a:pt x="0" y="0"/>
                </a:moveTo>
                <a:lnTo>
                  <a:pt x="4017489" y="0"/>
                </a:lnTo>
                <a:lnTo>
                  <a:pt x="4017489" y="1650316"/>
                </a:lnTo>
                <a:lnTo>
                  <a:pt x="0" y="1650316"/>
                </a:lnTo>
                <a:lnTo>
                  <a:pt x="0" y="0"/>
                </a:lnTo>
                <a:close/>
              </a:path>
            </a:pathLst>
          </a:custGeom>
          <a:blipFill>
            <a:blip r:embed="rId2"/>
            <a:stretch>
              <a:fillRect/>
            </a:stretch>
          </a:blipFill>
        </p:spPr>
        <p:txBody>
          <a:bodyPr/>
          <a:lstStyle/>
          <a:p>
            <a:endParaRPr lang="en-IN"/>
          </a:p>
        </p:txBody>
      </p:sp>
      <p:sp>
        <p:nvSpPr>
          <p:cNvPr id="6" name="Date Placeholder 5">
            <a:extLst>
              <a:ext uri="{FF2B5EF4-FFF2-40B4-BE49-F238E27FC236}">
                <a16:creationId xmlns:a16="http://schemas.microsoft.com/office/drawing/2014/main" id="{34155DAC-A365-6073-CEE1-5E86DB431183}"/>
              </a:ext>
            </a:extLst>
          </p:cNvPr>
          <p:cNvSpPr>
            <a:spLocks noGrp="1"/>
          </p:cNvSpPr>
          <p:nvPr>
            <p:ph type="dt" sz="half" idx="10"/>
          </p:nvPr>
        </p:nvSpPr>
        <p:spPr/>
        <p:txBody>
          <a:bodyPr/>
          <a:lstStyle/>
          <a:p>
            <a:fld id="{81525EA2-B65A-43B7-9186-CC59DA202539}" type="datetime1">
              <a:rPr lang="en-IN" smtClean="0"/>
              <a:t>03-08-2026</a:t>
            </a:fld>
            <a:endParaRPr lang="en-IN"/>
          </a:p>
        </p:txBody>
      </p:sp>
      <p:sp>
        <p:nvSpPr>
          <p:cNvPr id="7" name="Footer Placeholder 6">
            <a:extLst>
              <a:ext uri="{FF2B5EF4-FFF2-40B4-BE49-F238E27FC236}">
                <a16:creationId xmlns:a16="http://schemas.microsoft.com/office/drawing/2014/main" id="{0156204D-6F02-3EEB-6B52-6076E9EC750E}"/>
              </a:ext>
            </a:extLst>
          </p:cNvPr>
          <p:cNvSpPr>
            <a:spLocks noGrp="1"/>
          </p:cNvSpPr>
          <p:nvPr>
            <p:ph type="ftr" sz="quarter" idx="11"/>
          </p:nvPr>
        </p:nvSpPr>
        <p:spPr/>
        <p:txBody>
          <a:bodyPr/>
          <a:lstStyle/>
          <a:p>
            <a:r>
              <a:rPr lang="en-IN"/>
              <a:t>Department of AIML</a:t>
            </a:r>
          </a:p>
        </p:txBody>
      </p:sp>
      <p:sp>
        <p:nvSpPr>
          <p:cNvPr id="8" name="Slide Number Placeholder 7">
            <a:extLst>
              <a:ext uri="{FF2B5EF4-FFF2-40B4-BE49-F238E27FC236}">
                <a16:creationId xmlns:a16="http://schemas.microsoft.com/office/drawing/2014/main" id="{3201F880-190E-AA0C-C827-C94B7363F101}"/>
              </a:ext>
            </a:extLst>
          </p:cNvPr>
          <p:cNvSpPr>
            <a:spLocks noGrp="1"/>
          </p:cNvSpPr>
          <p:nvPr>
            <p:ph type="sldNum" sz="quarter" idx="12"/>
          </p:nvPr>
        </p:nvSpPr>
        <p:spPr/>
        <p:txBody>
          <a:bodyPr/>
          <a:lstStyle/>
          <a:p>
            <a:fld id="{D647149E-29F4-4E68-BA9F-E94CFCC48872}" type="slidenum">
              <a:rPr lang="en-IN" smtClean="0"/>
              <a:t>5</a:t>
            </a:fld>
            <a:endParaRPr lang="en-IN"/>
          </a:p>
        </p:txBody>
      </p:sp>
      <p:graphicFrame>
        <p:nvGraphicFramePr>
          <p:cNvPr id="3" name="Table 2">
            <a:extLst>
              <a:ext uri="{FF2B5EF4-FFF2-40B4-BE49-F238E27FC236}">
                <a16:creationId xmlns:a16="http://schemas.microsoft.com/office/drawing/2014/main" id="{D262501F-041F-59F9-DA1B-2F17CA7FC18F}"/>
              </a:ext>
            </a:extLst>
          </p:cNvPr>
          <p:cNvGraphicFramePr>
            <a:graphicFrameLocks noGrp="1"/>
          </p:cNvGraphicFramePr>
          <p:nvPr>
            <p:extLst>
              <p:ext uri="{D42A27DB-BD31-4B8C-83A1-F6EECF244321}">
                <p14:modId xmlns:p14="http://schemas.microsoft.com/office/powerpoint/2010/main" val="443729778"/>
              </p:ext>
            </p:extLst>
          </p:nvPr>
        </p:nvGraphicFramePr>
        <p:xfrm>
          <a:off x="481263" y="1008264"/>
          <a:ext cx="11229473" cy="5441893"/>
        </p:xfrm>
        <a:graphic>
          <a:graphicData uri="http://schemas.openxmlformats.org/drawingml/2006/table">
            <a:tbl>
              <a:tblPr/>
              <a:tblGrid>
                <a:gridCol w="684879">
                  <a:extLst>
                    <a:ext uri="{9D8B030D-6E8A-4147-A177-3AD203B41FA5}">
                      <a16:colId xmlns:a16="http://schemas.microsoft.com/office/drawing/2014/main" val="1786736973"/>
                    </a:ext>
                  </a:extLst>
                </a:gridCol>
                <a:gridCol w="2342001">
                  <a:extLst>
                    <a:ext uri="{9D8B030D-6E8A-4147-A177-3AD203B41FA5}">
                      <a16:colId xmlns:a16="http://schemas.microsoft.com/office/drawing/2014/main" val="1305539160"/>
                    </a:ext>
                  </a:extLst>
                </a:gridCol>
                <a:gridCol w="1358543">
                  <a:extLst>
                    <a:ext uri="{9D8B030D-6E8A-4147-A177-3AD203B41FA5}">
                      <a16:colId xmlns:a16="http://schemas.microsoft.com/office/drawing/2014/main" val="336770115"/>
                    </a:ext>
                  </a:extLst>
                </a:gridCol>
                <a:gridCol w="1895770">
                  <a:extLst>
                    <a:ext uri="{9D8B030D-6E8A-4147-A177-3AD203B41FA5}">
                      <a16:colId xmlns:a16="http://schemas.microsoft.com/office/drawing/2014/main" val="182436985"/>
                    </a:ext>
                  </a:extLst>
                </a:gridCol>
                <a:gridCol w="2544018">
                  <a:extLst>
                    <a:ext uri="{9D8B030D-6E8A-4147-A177-3AD203B41FA5}">
                      <a16:colId xmlns:a16="http://schemas.microsoft.com/office/drawing/2014/main" val="1549350026"/>
                    </a:ext>
                  </a:extLst>
                </a:gridCol>
                <a:gridCol w="2404262">
                  <a:extLst>
                    <a:ext uri="{9D8B030D-6E8A-4147-A177-3AD203B41FA5}">
                      <a16:colId xmlns:a16="http://schemas.microsoft.com/office/drawing/2014/main" val="863561932"/>
                    </a:ext>
                  </a:extLst>
                </a:gridCol>
              </a:tblGrid>
              <a:tr h="433937">
                <a:tc>
                  <a:txBody>
                    <a:bodyPr/>
                    <a:lstStyle/>
                    <a:p>
                      <a:pPr>
                        <a:buNone/>
                      </a:pPr>
                      <a:r>
                        <a:rPr lang="en-IN" sz="1500"/>
                        <a:t>S.No</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Title</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Author</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Objective</a:t>
                      </a:r>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Technology &amp; Working</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Findings</a:t>
                      </a:r>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4134695"/>
                  </a:ext>
                </a:extLst>
              </a:tr>
              <a:tr h="1262948">
                <a:tc>
                  <a:txBody>
                    <a:bodyPr/>
                    <a:lstStyle/>
                    <a:p>
                      <a:pPr>
                        <a:buNone/>
                      </a:pPr>
                      <a:r>
                        <a:rPr lang="en-IN" sz="1500"/>
                        <a:t>1</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FinBERT: Financial Sentiment Analysis with Pre-trained Language Models (2019)</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err="1"/>
                        <a:t>Dogu</a:t>
                      </a:r>
                      <a:r>
                        <a:rPr lang="en-IN" sz="1600" dirty="0"/>
                        <a:t> </a:t>
                      </a:r>
                      <a:r>
                        <a:rPr lang="en-IN" sz="1600" dirty="0" err="1"/>
                        <a:t>Araci</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Improve sentiment analysis for financial documents.</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Fine-tunes BERT on financial text to classify sentiment and understand domain-specific language.</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err="1"/>
                        <a:t>Ve</a:t>
                      </a:r>
                      <a:r>
                        <a:rPr lang="en-US" sz="1600" dirty="0"/>
                        <a:t>Achieved better performance than general BERT on financial NLP tasks but does not compare reports across years.</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8335008"/>
                  </a:ext>
                </a:extLst>
              </a:tr>
              <a:tr h="1466172">
                <a:tc>
                  <a:txBody>
                    <a:bodyPr/>
                    <a:lstStyle/>
                    <a:p>
                      <a:pPr>
                        <a:buNone/>
                      </a:pPr>
                      <a:r>
                        <a:rPr lang="en-IN" sz="1500"/>
                        <a:t>2</a:t>
                      </a:r>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Sentence-BERT: Sentence Embeddings using Siamese BERT Networks (EMNLP 2019)</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Nils Reimers, Iryna </a:t>
                      </a:r>
                      <a:r>
                        <a:rPr lang="en-IN" sz="1600" dirty="0" err="1"/>
                        <a:t>Gurevych</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Generate semantic sentence embeddings for similarity search.</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Uses Siamese BERT architecture to create embeddings and compares text using cosine similarity.</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Enables efficient semantic comparison but lacks financial reasoning capabilities.</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4121983"/>
                  </a:ext>
                </a:extLst>
              </a:tr>
              <a:tr h="1018586">
                <a:tc>
                  <a:txBody>
                    <a:bodyPr/>
                    <a:lstStyle/>
                    <a:p>
                      <a:pPr>
                        <a:buNone/>
                      </a:pPr>
                      <a:r>
                        <a:rPr lang="en-IN" sz="1500"/>
                        <a:t>3</a:t>
                      </a:r>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Retrieval-Augmented Generation for Knowledge-Intensive NLP Tasks (</a:t>
                      </a:r>
                      <a:r>
                        <a:rPr lang="en-US" sz="1600" dirty="0" err="1"/>
                        <a:t>NeurIPS</a:t>
                      </a:r>
                      <a:r>
                        <a:rPr lang="en-US" sz="1600" dirty="0"/>
                        <a:t> 2020)</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Patrick Lewis et al.</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I</a:t>
                      </a:r>
                      <a:r>
                        <a:rPr lang="en-US" sz="1600" dirty="0" err="1"/>
                        <a:t>mprove</a:t>
                      </a:r>
                      <a:r>
                        <a:rPr lang="en-US" sz="1600" dirty="0"/>
                        <a:t> LLM responses using external knowledge retrieval.</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Combines dense retrieval with a generative language model to produce context-aware answers.</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Produces more accurate and explainable outputs but is not specifically designed for financial disclosures.</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1398769"/>
                  </a:ext>
                </a:extLst>
              </a:tr>
              <a:tr h="564118">
                <a:tc>
                  <a:txBody>
                    <a:bodyPr/>
                    <a:lstStyle/>
                    <a:p>
                      <a:pPr>
                        <a:buNone/>
                      </a:pPr>
                      <a:r>
                        <a:rPr lang="en-IN" sz="1500"/>
                        <a:t>4</a:t>
                      </a:r>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err="1"/>
                        <a:t>FinGPT</a:t>
                      </a:r>
                      <a:r>
                        <a:rPr lang="en-IN" sz="1600" dirty="0"/>
                        <a:t>: Open-Source Financial Large Language Models (2023)</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err="1"/>
                        <a:t>C</a:t>
                      </a:r>
                      <a:r>
                        <a:rPr lang="en-IN" sz="1600" dirty="0" err="1"/>
                        <a:t>Yang</a:t>
                      </a:r>
                      <a:r>
                        <a:rPr lang="en-IN" sz="1600" dirty="0"/>
                        <a:t> Liu et al.</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Develop an open-source LLM specialized for financial analysis.</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Fine-tunes LLMs on financial news, reports, and market data for domain-specific reasoning.</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Demonstrates strong financial language understanding but does not focus on disclosure anomaly detection.</a:t>
                      </a:r>
                      <a:endParaRPr lang="en-IN" sz="1500" dirty="0"/>
                    </a:p>
                  </a:txBody>
                  <a:tcPr marL="41050" marR="41050" marT="20525" marB="20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8007330"/>
                  </a:ext>
                </a:extLst>
              </a:tr>
            </a:tbl>
          </a:graphicData>
        </a:graphic>
      </p:graphicFrame>
    </p:spTree>
    <p:extLst>
      <p:ext uri="{BB962C8B-B14F-4D97-AF65-F5344CB8AC3E}">
        <p14:creationId xmlns:p14="http://schemas.microsoft.com/office/powerpoint/2010/main" val="374522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90C05-0BA5-74D3-E242-292138BA7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4DCFC-896F-FA31-F80B-7569A4DBFF8B}"/>
              </a:ext>
            </a:extLst>
          </p:cNvPr>
          <p:cNvSpPr>
            <a:spLocks noGrp="1"/>
          </p:cNvSpPr>
          <p:nvPr>
            <p:ph type="title"/>
          </p:nvPr>
        </p:nvSpPr>
        <p:spPr>
          <a:xfrm>
            <a:off x="838200" y="365125"/>
            <a:ext cx="10515600" cy="969689"/>
          </a:xfrm>
        </p:spPr>
        <p:txBody>
          <a:bodyPr/>
          <a:lstStyle/>
          <a:p>
            <a:r>
              <a:rPr lang="en-IN" dirty="0">
                <a:latin typeface="Times New Roman" panose="02020603050405020304" pitchFamily="18" charset="0"/>
                <a:cs typeface="Times New Roman" panose="02020603050405020304" pitchFamily="18" charset="0"/>
              </a:rPr>
              <a:t>Research Gaps</a:t>
            </a:r>
            <a:endParaRPr lang="en-IN" dirty="0"/>
          </a:p>
        </p:txBody>
      </p:sp>
      <p:sp>
        <p:nvSpPr>
          <p:cNvPr id="3" name="Content Placeholder 2">
            <a:extLst>
              <a:ext uri="{FF2B5EF4-FFF2-40B4-BE49-F238E27FC236}">
                <a16:creationId xmlns:a16="http://schemas.microsoft.com/office/drawing/2014/main" id="{606669C5-D344-C0EC-699D-3D1E8F006B83}"/>
              </a:ext>
            </a:extLst>
          </p:cNvPr>
          <p:cNvSpPr>
            <a:spLocks noGrp="1"/>
          </p:cNvSpPr>
          <p:nvPr>
            <p:ph idx="1"/>
          </p:nvPr>
        </p:nvSpPr>
        <p:spPr>
          <a:xfrm>
            <a:off x="838200" y="1338591"/>
            <a:ext cx="10515600" cy="1807779"/>
          </a:xfrm>
        </p:spPr>
        <p:txBody>
          <a:bodyPr>
            <a:noAutofit/>
          </a:bodyPr>
          <a:lstStyle/>
          <a:p>
            <a:r>
              <a:rPr lang="en-US" sz="1400" dirty="0"/>
              <a:t>Existing financial AI systems suffer from several limitations:</a:t>
            </a:r>
          </a:p>
          <a:p>
            <a:r>
              <a:rPr lang="en-US" sz="1400" dirty="0"/>
              <a:t>Primarily designed for single-country financial reports. </a:t>
            </a:r>
          </a:p>
          <a:p>
            <a:r>
              <a:rPr lang="en-US" sz="1400" dirty="0"/>
              <a:t>Lack automated year-over-year semantic comparison. </a:t>
            </a:r>
          </a:p>
          <a:p>
            <a:r>
              <a:rPr lang="en-US" sz="1400" dirty="0"/>
              <a:t>Do not detect emerging or disappearing corporate risks. </a:t>
            </a:r>
          </a:p>
          <a:p>
            <a:r>
              <a:rPr lang="en-US" sz="1400" dirty="0"/>
              <a:t>Limited </a:t>
            </a:r>
            <a:r>
              <a:rPr lang="en-US" sz="1400" dirty="0" err="1"/>
              <a:t>explainability</a:t>
            </a:r>
            <a:r>
              <a:rPr lang="en-US" sz="1400" dirty="0"/>
              <a:t> of disclosure changes. </a:t>
            </a:r>
          </a:p>
          <a:p>
            <a:r>
              <a:rPr lang="en-US" sz="1400" dirty="0"/>
              <a:t>Absence of unified support for multiple financial reporting standards. </a:t>
            </a:r>
          </a:p>
          <a:p>
            <a:pPr marL="0" indent="0">
              <a:buNone/>
            </a:pPr>
            <a:endParaRPr lang="en-US" sz="1400" dirty="0"/>
          </a:p>
          <a:p>
            <a:pPr algn="just"/>
            <a:endParaRPr lang="en-IN" sz="1400" dirty="0"/>
          </a:p>
        </p:txBody>
      </p:sp>
      <p:sp>
        <p:nvSpPr>
          <p:cNvPr id="4" name="Date Placeholder 3">
            <a:extLst>
              <a:ext uri="{FF2B5EF4-FFF2-40B4-BE49-F238E27FC236}">
                <a16:creationId xmlns:a16="http://schemas.microsoft.com/office/drawing/2014/main" id="{0DDC0430-CC95-C29D-2278-2FCA96DC9F97}"/>
              </a:ext>
            </a:extLst>
          </p:cNvPr>
          <p:cNvSpPr>
            <a:spLocks noGrp="1"/>
          </p:cNvSpPr>
          <p:nvPr>
            <p:ph type="dt" sz="half" idx="10"/>
          </p:nvPr>
        </p:nvSpPr>
        <p:spPr/>
        <p:txBody>
          <a:bodyPr/>
          <a:lstStyle/>
          <a:p>
            <a:fld id="{D321C8C1-5BD5-4701-BC9C-FC1959089BFB}" type="datetime1">
              <a:rPr lang="en-IN" smtClean="0"/>
              <a:t>03-08-2026</a:t>
            </a:fld>
            <a:endParaRPr lang="en-IN"/>
          </a:p>
        </p:txBody>
      </p:sp>
      <p:sp>
        <p:nvSpPr>
          <p:cNvPr id="5" name="Footer Placeholder 4">
            <a:extLst>
              <a:ext uri="{FF2B5EF4-FFF2-40B4-BE49-F238E27FC236}">
                <a16:creationId xmlns:a16="http://schemas.microsoft.com/office/drawing/2014/main" id="{9B2D5EF9-EF6E-FBCD-32D4-6998B224A234}"/>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3D625E34-EEE7-1DF2-2178-1F54EE10D2BF}"/>
              </a:ext>
            </a:extLst>
          </p:cNvPr>
          <p:cNvSpPr>
            <a:spLocks noGrp="1"/>
          </p:cNvSpPr>
          <p:nvPr>
            <p:ph type="sldNum" sz="quarter" idx="12"/>
          </p:nvPr>
        </p:nvSpPr>
        <p:spPr/>
        <p:txBody>
          <a:bodyPr/>
          <a:lstStyle/>
          <a:p>
            <a:fld id="{D647149E-29F4-4E68-BA9F-E94CFCC48872}" type="slidenum">
              <a:rPr lang="en-IN" smtClean="0"/>
              <a:t>6</a:t>
            </a:fld>
            <a:endParaRPr lang="en-IN"/>
          </a:p>
        </p:txBody>
      </p:sp>
      <p:sp>
        <p:nvSpPr>
          <p:cNvPr id="7" name="Title 1">
            <a:extLst>
              <a:ext uri="{FF2B5EF4-FFF2-40B4-BE49-F238E27FC236}">
                <a16:creationId xmlns:a16="http://schemas.microsoft.com/office/drawing/2014/main" id="{09EEE5B8-7422-2579-84C0-6FCE23C90B2A}"/>
              </a:ext>
            </a:extLst>
          </p:cNvPr>
          <p:cNvSpPr txBox="1">
            <a:spLocks/>
          </p:cNvSpPr>
          <p:nvPr/>
        </p:nvSpPr>
        <p:spPr>
          <a:xfrm>
            <a:off x="838200" y="3242441"/>
            <a:ext cx="10515600" cy="9696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Hardware &amp; Software Requirements</a:t>
            </a:r>
          </a:p>
        </p:txBody>
      </p:sp>
      <p:sp>
        <p:nvSpPr>
          <p:cNvPr id="10" name="Content Placeholder 2">
            <a:extLst>
              <a:ext uri="{FF2B5EF4-FFF2-40B4-BE49-F238E27FC236}">
                <a16:creationId xmlns:a16="http://schemas.microsoft.com/office/drawing/2014/main" id="{5BB51AAE-C1DF-D7E0-5804-E06F2D06A866}"/>
              </a:ext>
            </a:extLst>
          </p:cNvPr>
          <p:cNvSpPr txBox="1">
            <a:spLocks/>
          </p:cNvSpPr>
          <p:nvPr/>
        </p:nvSpPr>
        <p:spPr>
          <a:xfrm>
            <a:off x="1069428" y="4033454"/>
            <a:ext cx="3786352" cy="18077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IN" sz="2000" dirty="0"/>
          </a:p>
        </p:txBody>
      </p:sp>
      <p:sp>
        <p:nvSpPr>
          <p:cNvPr id="9" name="Content Placeholder 2">
            <a:extLst>
              <a:ext uri="{FF2B5EF4-FFF2-40B4-BE49-F238E27FC236}">
                <a16:creationId xmlns:a16="http://schemas.microsoft.com/office/drawing/2014/main" id="{83BB442C-CC8D-ED8F-B86B-9523D44B929B}"/>
              </a:ext>
            </a:extLst>
          </p:cNvPr>
          <p:cNvSpPr txBox="1">
            <a:spLocks/>
          </p:cNvSpPr>
          <p:nvPr/>
        </p:nvSpPr>
        <p:spPr>
          <a:xfrm>
            <a:off x="4627178" y="4122792"/>
            <a:ext cx="3786352" cy="18077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n-IN" sz="2000" dirty="0"/>
          </a:p>
        </p:txBody>
      </p:sp>
      <p:sp>
        <p:nvSpPr>
          <p:cNvPr id="12" name="TextBox 11">
            <a:extLst>
              <a:ext uri="{FF2B5EF4-FFF2-40B4-BE49-F238E27FC236}">
                <a16:creationId xmlns:a16="http://schemas.microsoft.com/office/drawing/2014/main" id="{E02430BE-372A-48D1-AC71-F77BDBCA3361}"/>
              </a:ext>
            </a:extLst>
          </p:cNvPr>
          <p:cNvSpPr txBox="1"/>
          <p:nvPr/>
        </p:nvSpPr>
        <p:spPr>
          <a:xfrm>
            <a:off x="838200" y="4347148"/>
            <a:ext cx="8815466" cy="1754326"/>
          </a:xfrm>
          <a:prstGeom prst="rect">
            <a:avLst/>
          </a:prstGeom>
          <a:noFill/>
        </p:spPr>
        <p:txBody>
          <a:bodyPr wrap="square" rtlCol="0">
            <a:spAutoFit/>
          </a:bodyPr>
          <a:lstStyle/>
          <a:p>
            <a:pPr marL="285750" indent="-285750">
              <a:buFont typeface="Arial" panose="020B0604020202020204" pitchFamily="34" charset="0"/>
              <a:buChar char="•"/>
            </a:pPr>
            <a:r>
              <a:rPr lang="en-IN" dirty="0"/>
              <a:t>Large Language Models (GPT / Llama)</a:t>
            </a:r>
          </a:p>
          <a:p>
            <a:pPr marL="285750" indent="-285750">
              <a:buFont typeface="Arial" panose="020B0604020202020204" pitchFamily="34" charset="0"/>
              <a:buChar char="•"/>
            </a:pPr>
            <a:r>
              <a:rPr lang="en-IN" dirty="0"/>
              <a:t>Retrieval-Augmented Generation (RAG)</a:t>
            </a:r>
          </a:p>
          <a:p>
            <a:pPr marL="285750" indent="-285750">
              <a:buFont typeface="Arial" panose="020B0604020202020204" pitchFamily="34" charset="0"/>
              <a:buChar char="•"/>
            </a:pPr>
            <a:r>
              <a:rPr lang="en-IN" dirty="0"/>
              <a:t>Sentence Transformers</a:t>
            </a:r>
          </a:p>
          <a:p>
            <a:pPr marL="285750" indent="-285750">
              <a:buFont typeface="Arial" panose="020B0604020202020204" pitchFamily="34" charset="0"/>
              <a:buChar char="•"/>
            </a:pPr>
            <a:r>
              <a:rPr lang="en-IN" dirty="0"/>
              <a:t>Semantic Embeddings</a:t>
            </a:r>
          </a:p>
          <a:p>
            <a:pPr marL="285750" indent="-285750">
              <a:buFont typeface="Arial" panose="020B0604020202020204" pitchFamily="34" charset="0"/>
              <a:buChar char="•"/>
            </a:pPr>
            <a:r>
              <a:rPr lang="en-IN" dirty="0"/>
              <a:t>Natural Language Processing</a:t>
            </a:r>
          </a:p>
          <a:p>
            <a:pPr marL="285750" indent="-285750">
              <a:buFont typeface="Arial" panose="020B0604020202020204" pitchFamily="34" charset="0"/>
              <a:buChar char="•"/>
            </a:pPr>
            <a:r>
              <a:rPr lang="en-IN" dirty="0"/>
              <a:t>Vector Database (FAISS)</a:t>
            </a:r>
          </a:p>
        </p:txBody>
      </p:sp>
    </p:spTree>
    <p:extLst>
      <p:ext uri="{BB962C8B-B14F-4D97-AF65-F5344CB8AC3E}">
        <p14:creationId xmlns:p14="http://schemas.microsoft.com/office/powerpoint/2010/main" val="929024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61907F4-5CBD-6DB6-6E13-889D165CDB3E}"/>
              </a:ext>
            </a:extLst>
          </p:cNvPr>
          <p:cNvSpPr>
            <a:spLocks noGrp="1"/>
          </p:cNvSpPr>
          <p:nvPr>
            <p:ph type="dt" sz="half" idx="10"/>
          </p:nvPr>
        </p:nvSpPr>
        <p:spPr/>
        <p:txBody>
          <a:bodyPr/>
          <a:lstStyle/>
          <a:p>
            <a:fld id="{D321C8C1-5BD5-4701-BC9C-FC1959089BFB}" type="datetime1">
              <a:rPr lang="en-IN" smtClean="0"/>
              <a:t>03-08-2026</a:t>
            </a:fld>
            <a:endParaRPr lang="en-IN"/>
          </a:p>
        </p:txBody>
      </p:sp>
      <p:sp>
        <p:nvSpPr>
          <p:cNvPr id="5" name="Footer Placeholder 4">
            <a:extLst>
              <a:ext uri="{FF2B5EF4-FFF2-40B4-BE49-F238E27FC236}">
                <a16:creationId xmlns:a16="http://schemas.microsoft.com/office/drawing/2014/main" id="{D22A660E-C3AD-7B3A-A2E6-9692B56CA5C1}"/>
              </a:ext>
            </a:extLst>
          </p:cNvPr>
          <p:cNvSpPr>
            <a:spLocks noGrp="1"/>
          </p:cNvSpPr>
          <p:nvPr>
            <p:ph type="ftr" sz="quarter" idx="11"/>
          </p:nvPr>
        </p:nvSpPr>
        <p:spPr/>
        <p:txBody>
          <a:bodyPr/>
          <a:lstStyle/>
          <a:p>
            <a:r>
              <a:rPr lang="en-IN"/>
              <a:t>Department of AIML</a:t>
            </a:r>
          </a:p>
        </p:txBody>
      </p:sp>
      <p:sp>
        <p:nvSpPr>
          <p:cNvPr id="6" name="Slide Number Placeholder 5">
            <a:extLst>
              <a:ext uri="{FF2B5EF4-FFF2-40B4-BE49-F238E27FC236}">
                <a16:creationId xmlns:a16="http://schemas.microsoft.com/office/drawing/2014/main" id="{CDFBB8F5-04DE-88D7-ED79-1D215C43AED4}"/>
              </a:ext>
            </a:extLst>
          </p:cNvPr>
          <p:cNvSpPr>
            <a:spLocks noGrp="1"/>
          </p:cNvSpPr>
          <p:nvPr>
            <p:ph type="sldNum" sz="quarter" idx="12"/>
          </p:nvPr>
        </p:nvSpPr>
        <p:spPr/>
        <p:txBody>
          <a:bodyPr/>
          <a:lstStyle/>
          <a:p>
            <a:fld id="{D647149E-29F4-4E68-BA9F-E94CFCC48872}" type="slidenum">
              <a:rPr lang="en-IN" smtClean="0"/>
              <a:t>7</a:t>
            </a:fld>
            <a:endParaRPr lang="en-IN"/>
          </a:p>
        </p:txBody>
      </p:sp>
      <p:pic>
        <p:nvPicPr>
          <p:cNvPr id="13" name="Picture 12">
            <a:extLst>
              <a:ext uri="{FF2B5EF4-FFF2-40B4-BE49-F238E27FC236}">
                <a16:creationId xmlns:a16="http://schemas.microsoft.com/office/drawing/2014/main" id="{7F150975-DC6A-4432-9FC0-DBF755DFBC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589" y="288758"/>
            <a:ext cx="11774906" cy="6432717"/>
          </a:xfrm>
          <a:prstGeom prst="rect">
            <a:avLst/>
          </a:prstGeom>
        </p:spPr>
      </p:pic>
    </p:spTree>
    <p:extLst>
      <p:ext uri="{BB962C8B-B14F-4D97-AF65-F5344CB8AC3E}">
        <p14:creationId xmlns:p14="http://schemas.microsoft.com/office/powerpoint/2010/main" val="3638412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4C199-7D2F-0077-F7EE-893DFD3F5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42034-8FFC-E95F-EF3F-9165A1F5DCE7}"/>
              </a:ext>
            </a:extLst>
          </p:cNvPr>
          <p:cNvSpPr>
            <a:spLocks noGrp="1"/>
          </p:cNvSpPr>
          <p:nvPr>
            <p:ph type="title"/>
          </p:nvPr>
        </p:nvSpPr>
        <p:spPr/>
        <p:txBody>
          <a:bodyPr>
            <a:normAutofit/>
          </a:bodyPr>
          <a:lstStyle/>
          <a:p>
            <a:r>
              <a:rPr lang="en-US" b="1" dirty="0">
                <a:solidFill>
                  <a:srgbClr val="000000"/>
                </a:solidFill>
                <a:latin typeface="Times New Roman Bold"/>
                <a:ea typeface="Times New Roman Bold"/>
                <a:cs typeface="Times New Roman Bold"/>
                <a:sym typeface="Times New Roman Bold"/>
              </a:rPr>
              <a:t>References</a:t>
            </a:r>
            <a:endParaRPr lang="en-IN" dirty="0"/>
          </a:p>
        </p:txBody>
      </p:sp>
      <p:sp>
        <p:nvSpPr>
          <p:cNvPr id="4" name="Freeform 5">
            <a:extLst>
              <a:ext uri="{FF2B5EF4-FFF2-40B4-BE49-F238E27FC236}">
                <a16:creationId xmlns:a16="http://schemas.microsoft.com/office/drawing/2014/main" id="{3B00DFBD-06F3-8755-BE3B-C7540FBAE323}"/>
              </a:ext>
            </a:extLst>
          </p:cNvPr>
          <p:cNvSpPr/>
          <p:nvPr/>
        </p:nvSpPr>
        <p:spPr>
          <a:xfrm>
            <a:off x="9096341" y="0"/>
            <a:ext cx="3058487" cy="1100236"/>
          </a:xfrm>
          <a:custGeom>
            <a:avLst/>
            <a:gdLst/>
            <a:ahLst/>
            <a:cxnLst/>
            <a:rect l="l" t="t" r="r" b="b"/>
            <a:pathLst>
              <a:path w="4017489" h="1650316">
                <a:moveTo>
                  <a:pt x="0" y="0"/>
                </a:moveTo>
                <a:lnTo>
                  <a:pt x="4017489" y="0"/>
                </a:lnTo>
                <a:lnTo>
                  <a:pt x="4017489" y="1650316"/>
                </a:lnTo>
                <a:lnTo>
                  <a:pt x="0" y="1650316"/>
                </a:lnTo>
                <a:lnTo>
                  <a:pt x="0" y="0"/>
                </a:lnTo>
                <a:close/>
              </a:path>
            </a:pathLst>
          </a:custGeom>
          <a:blipFill>
            <a:blip r:embed="rId2"/>
            <a:stretch>
              <a:fillRect/>
            </a:stretch>
          </a:blipFill>
        </p:spPr>
        <p:txBody>
          <a:bodyPr/>
          <a:lstStyle/>
          <a:p>
            <a:endParaRPr lang="en-IN"/>
          </a:p>
        </p:txBody>
      </p:sp>
      <p:sp>
        <p:nvSpPr>
          <p:cNvPr id="7" name="Date Placeholder 6">
            <a:extLst>
              <a:ext uri="{FF2B5EF4-FFF2-40B4-BE49-F238E27FC236}">
                <a16:creationId xmlns:a16="http://schemas.microsoft.com/office/drawing/2014/main" id="{A4036152-D5C6-64E2-4791-9F0151EEF480}"/>
              </a:ext>
            </a:extLst>
          </p:cNvPr>
          <p:cNvSpPr>
            <a:spLocks noGrp="1"/>
          </p:cNvSpPr>
          <p:nvPr>
            <p:ph type="dt" sz="half" idx="10"/>
          </p:nvPr>
        </p:nvSpPr>
        <p:spPr/>
        <p:txBody>
          <a:bodyPr/>
          <a:lstStyle/>
          <a:p>
            <a:fld id="{26DA904B-3312-48E3-8DD9-BAA1237826CE}" type="datetime1">
              <a:rPr lang="en-IN" smtClean="0"/>
              <a:t>03-08-2026</a:t>
            </a:fld>
            <a:endParaRPr lang="en-IN"/>
          </a:p>
        </p:txBody>
      </p:sp>
      <p:sp>
        <p:nvSpPr>
          <p:cNvPr id="8" name="Footer Placeholder 7">
            <a:extLst>
              <a:ext uri="{FF2B5EF4-FFF2-40B4-BE49-F238E27FC236}">
                <a16:creationId xmlns:a16="http://schemas.microsoft.com/office/drawing/2014/main" id="{7FDA61BF-629E-B528-A966-FB34FDE9A9F4}"/>
              </a:ext>
            </a:extLst>
          </p:cNvPr>
          <p:cNvSpPr>
            <a:spLocks noGrp="1"/>
          </p:cNvSpPr>
          <p:nvPr>
            <p:ph type="ftr" sz="quarter" idx="11"/>
          </p:nvPr>
        </p:nvSpPr>
        <p:spPr/>
        <p:txBody>
          <a:bodyPr/>
          <a:lstStyle/>
          <a:p>
            <a:r>
              <a:rPr lang="en-IN"/>
              <a:t>Department of AIML</a:t>
            </a:r>
          </a:p>
        </p:txBody>
      </p:sp>
      <p:sp>
        <p:nvSpPr>
          <p:cNvPr id="9" name="Slide Number Placeholder 8">
            <a:extLst>
              <a:ext uri="{FF2B5EF4-FFF2-40B4-BE49-F238E27FC236}">
                <a16:creationId xmlns:a16="http://schemas.microsoft.com/office/drawing/2014/main" id="{9344C28A-2462-5529-52DD-19CC671F78A7}"/>
              </a:ext>
            </a:extLst>
          </p:cNvPr>
          <p:cNvSpPr>
            <a:spLocks noGrp="1"/>
          </p:cNvSpPr>
          <p:nvPr>
            <p:ph type="sldNum" sz="quarter" idx="12"/>
          </p:nvPr>
        </p:nvSpPr>
        <p:spPr/>
        <p:txBody>
          <a:bodyPr/>
          <a:lstStyle/>
          <a:p>
            <a:fld id="{D647149E-29F4-4E68-BA9F-E94CFCC48872}" type="slidenum">
              <a:rPr lang="en-IN" smtClean="0"/>
              <a:t>8</a:t>
            </a:fld>
            <a:endParaRPr lang="en-IN"/>
          </a:p>
        </p:txBody>
      </p:sp>
      <p:sp>
        <p:nvSpPr>
          <p:cNvPr id="3" name="Content Placeholder 2">
            <a:extLst>
              <a:ext uri="{FF2B5EF4-FFF2-40B4-BE49-F238E27FC236}">
                <a16:creationId xmlns:a16="http://schemas.microsoft.com/office/drawing/2014/main" id="{BBA8C1F7-7ECD-6E7E-8D93-33A25747FCE5}"/>
              </a:ext>
            </a:extLst>
          </p:cNvPr>
          <p:cNvSpPr>
            <a:spLocks noGrp="1"/>
          </p:cNvSpPr>
          <p:nvPr>
            <p:ph idx="1"/>
          </p:nvPr>
        </p:nvSpPr>
        <p:spPr>
          <a:xfrm>
            <a:off x="838200" y="1521153"/>
            <a:ext cx="10515600" cy="5017759"/>
          </a:xfrm>
        </p:spPr>
        <p:txBody>
          <a:bodyPr>
            <a:noAutofit/>
          </a:bodyPr>
          <a:lstStyle/>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J. Wadden, S. Lin, K. Lo, L. L. Wang, M. van </a:t>
            </a:r>
            <a:r>
              <a:rPr lang="en-IN" sz="1600" dirty="0" err="1">
                <a:latin typeface="Times New Roman" panose="02020603050405020304" pitchFamily="18" charset="0"/>
                <a:cs typeface="Times New Roman" panose="02020603050405020304" pitchFamily="18" charset="0"/>
              </a:rPr>
              <a:t>Zuylen</a:t>
            </a:r>
            <a:r>
              <a:rPr lang="en-IN" sz="1600" dirty="0">
                <a:latin typeface="Times New Roman" panose="02020603050405020304" pitchFamily="18" charset="0"/>
                <a:cs typeface="Times New Roman" panose="02020603050405020304" pitchFamily="18" charset="0"/>
              </a:rPr>
              <a:t>, and A. </a:t>
            </a:r>
            <a:r>
              <a:rPr lang="en-IN" sz="1600" dirty="0" err="1">
                <a:latin typeface="Times New Roman" panose="02020603050405020304" pitchFamily="18" charset="0"/>
                <a:cs typeface="Times New Roman" panose="02020603050405020304" pitchFamily="18" charset="0"/>
              </a:rPr>
              <a:t>Hajishirzi</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"Fact or Fiction: Verifying Scientific Claims Using Evidence from the Literature,"</a:t>
            </a:r>
            <a:r>
              <a:rPr lang="en-IN" sz="1600" dirty="0">
                <a:latin typeface="Times New Roman" panose="02020603050405020304" pitchFamily="18" charset="0"/>
                <a:cs typeface="Times New Roman" panose="02020603050405020304" pitchFamily="18" charset="0"/>
              </a:rPr>
              <a:t> Proceedings of the 2020 Conference on Empirical Methods in Natural Language Processing (EMNLP), 2020. </a:t>
            </a:r>
          </a:p>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J. Thorne, A. Vlachos, C. Christodoulopoulos, and A. Mittal, </a:t>
            </a:r>
            <a:r>
              <a:rPr lang="en-IN" sz="1600" i="1" dirty="0">
                <a:latin typeface="Times New Roman" panose="02020603050405020304" pitchFamily="18" charset="0"/>
                <a:cs typeface="Times New Roman" panose="02020603050405020304" pitchFamily="18" charset="0"/>
              </a:rPr>
              <a:t>"FEVER: A Large-Scale Dataset for Fact Extraction and Verification,"</a:t>
            </a:r>
            <a:r>
              <a:rPr lang="en-IN" sz="1600" dirty="0">
                <a:latin typeface="Times New Roman" panose="02020603050405020304" pitchFamily="18" charset="0"/>
                <a:cs typeface="Times New Roman" panose="02020603050405020304" pitchFamily="18" charset="0"/>
              </a:rPr>
              <a:t> NAACL-HLT, 2018. </a:t>
            </a:r>
          </a:p>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P. Di Tommaso, M. </a:t>
            </a:r>
            <a:r>
              <a:rPr lang="en-IN" sz="1600" dirty="0" err="1">
                <a:latin typeface="Times New Roman" panose="02020603050405020304" pitchFamily="18" charset="0"/>
                <a:cs typeface="Times New Roman" panose="02020603050405020304" pitchFamily="18" charset="0"/>
              </a:rPr>
              <a:t>Chatzou</a:t>
            </a:r>
            <a:r>
              <a:rPr lang="en-IN" sz="1600" dirty="0">
                <a:latin typeface="Times New Roman" panose="02020603050405020304" pitchFamily="18" charset="0"/>
                <a:cs typeface="Times New Roman" panose="02020603050405020304" pitchFamily="18" charset="0"/>
              </a:rPr>
              <a:t>, E. W. Floden, P. P. Barja, E. Palumbo, and C. </a:t>
            </a:r>
            <a:r>
              <a:rPr lang="en-IN" sz="1600" dirty="0" err="1">
                <a:latin typeface="Times New Roman" panose="02020603050405020304" pitchFamily="18" charset="0"/>
                <a:cs typeface="Times New Roman" panose="02020603050405020304" pitchFamily="18" charset="0"/>
              </a:rPr>
              <a:t>Notredame</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t>
            </a:r>
            <a:r>
              <a:rPr lang="en-IN" sz="1600" i="1" dirty="0" err="1">
                <a:latin typeface="Times New Roman" panose="02020603050405020304" pitchFamily="18" charset="0"/>
                <a:cs typeface="Times New Roman" panose="02020603050405020304" pitchFamily="18" charset="0"/>
              </a:rPr>
              <a:t>Nextflow</a:t>
            </a:r>
            <a:r>
              <a:rPr lang="en-IN" sz="1600" i="1" dirty="0">
                <a:latin typeface="Times New Roman" panose="02020603050405020304" pitchFamily="18" charset="0"/>
                <a:cs typeface="Times New Roman" panose="02020603050405020304" pitchFamily="18" charset="0"/>
              </a:rPr>
              <a:t> Enables Reproducible Computational Workflows,"</a:t>
            </a:r>
            <a:r>
              <a:rPr lang="en-IN" sz="1600" dirty="0">
                <a:latin typeface="Times New Roman" panose="02020603050405020304" pitchFamily="18" charset="0"/>
                <a:cs typeface="Times New Roman" panose="02020603050405020304" pitchFamily="18" charset="0"/>
              </a:rPr>
              <a:t> Nature Biotechnology, vol. 35, no. 4, pp. 316–319, 2017. </a:t>
            </a:r>
          </a:p>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E. </a:t>
            </a:r>
            <a:r>
              <a:rPr lang="en-IN" sz="1600" dirty="0" err="1">
                <a:latin typeface="Times New Roman" panose="02020603050405020304" pitchFamily="18" charset="0"/>
                <a:cs typeface="Times New Roman" panose="02020603050405020304" pitchFamily="18" charset="0"/>
              </a:rPr>
              <a:t>Afgan</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"The Galaxy Platform for Accessible, Reproducible and Collaborative Biomedical Analyses,"</a:t>
            </a:r>
            <a:r>
              <a:rPr lang="en-IN" sz="1600" dirty="0">
                <a:latin typeface="Times New Roman" panose="02020603050405020304" pitchFamily="18" charset="0"/>
                <a:cs typeface="Times New Roman" panose="02020603050405020304" pitchFamily="18" charset="0"/>
              </a:rPr>
              <a:t> Nucleic Acids Research, vol. 46, no. W1, pp. W537–W544, 2018.</a:t>
            </a:r>
          </a:p>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W. Ammar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"Construction of the Literature Graph in Semantic Scholar,"</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preprint arXiv:1805.02262, 2018. </a:t>
            </a:r>
          </a:p>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Connected Papers, </a:t>
            </a:r>
            <a:r>
              <a:rPr lang="en-IN" sz="1600" i="1" dirty="0">
                <a:latin typeface="Times New Roman" panose="02020603050405020304" pitchFamily="18" charset="0"/>
                <a:cs typeface="Times New Roman" panose="02020603050405020304" pitchFamily="18" charset="0"/>
              </a:rPr>
              <a:t>A Visual Tool for Exploring Scientific Literature</a:t>
            </a:r>
            <a:r>
              <a:rPr lang="en-IN" sz="1600" dirty="0">
                <a:latin typeface="Times New Roman" panose="02020603050405020304" pitchFamily="18" charset="0"/>
                <a:cs typeface="Times New Roman" panose="02020603050405020304" pitchFamily="18" charset="0"/>
              </a:rPr>
              <a:t>, 2020.</a:t>
            </a:r>
          </a:p>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Consensus AI, </a:t>
            </a:r>
            <a:r>
              <a:rPr lang="en-IN" sz="1600" i="1" dirty="0">
                <a:latin typeface="Times New Roman" panose="02020603050405020304" pitchFamily="18" charset="0"/>
                <a:cs typeface="Times New Roman" panose="02020603050405020304" pitchFamily="18" charset="0"/>
              </a:rPr>
              <a:t>AI-Powered Scientific Literature Search and Evidence Discovery Platform</a:t>
            </a:r>
            <a:r>
              <a:rPr lang="en-IN" sz="1600" dirty="0">
                <a:latin typeface="Times New Roman" panose="02020603050405020304" pitchFamily="18" charset="0"/>
                <a:cs typeface="Times New Roman" panose="02020603050405020304" pitchFamily="18" charset="0"/>
              </a:rPr>
              <a:t>, 2023.</a:t>
            </a:r>
          </a:p>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Elicit, Ought Inc., </a:t>
            </a:r>
            <a:r>
              <a:rPr lang="en-IN" sz="1600" i="1" dirty="0">
                <a:latin typeface="Times New Roman" panose="02020603050405020304" pitchFamily="18" charset="0"/>
                <a:cs typeface="Times New Roman" panose="02020603050405020304" pitchFamily="18" charset="0"/>
              </a:rPr>
              <a:t>AI Research Assistant for Literature Review and Evidence Synthesis</a:t>
            </a:r>
            <a:r>
              <a:rPr lang="en-IN" sz="1600" dirty="0">
                <a:latin typeface="Times New Roman" panose="02020603050405020304" pitchFamily="18" charset="0"/>
                <a:cs typeface="Times New Roman" panose="02020603050405020304" pitchFamily="18" charset="0"/>
              </a:rPr>
              <a:t>, 2023.</a:t>
            </a:r>
          </a:p>
          <a:p>
            <a:pPr marL="457200" indent="-457200" algn="just">
              <a:buFont typeface="+mj-lt"/>
              <a:buAutoNum type="arabicPeriod"/>
            </a:pPr>
            <a:r>
              <a:rPr lang="en-IN" sz="1600" dirty="0" err="1">
                <a:latin typeface="Times New Roman" panose="02020603050405020304" pitchFamily="18" charset="0"/>
                <a:cs typeface="Times New Roman" panose="02020603050405020304" pitchFamily="18" charset="0"/>
              </a:rPr>
              <a:t>LangGraph</a:t>
            </a:r>
            <a:r>
              <a:rPr lang="en-IN" sz="1600" dirty="0">
                <a:latin typeface="Times New Roman" panose="02020603050405020304" pitchFamily="18" charset="0"/>
                <a:cs typeface="Times New Roman" panose="02020603050405020304" pitchFamily="18" charset="0"/>
              </a:rPr>
              <a:t> Documentation,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Inc., </a:t>
            </a:r>
            <a:r>
              <a:rPr lang="en-IN" sz="1600" i="1" dirty="0">
                <a:latin typeface="Times New Roman" panose="02020603050405020304" pitchFamily="18" charset="0"/>
                <a:cs typeface="Times New Roman" panose="02020603050405020304" pitchFamily="18" charset="0"/>
              </a:rPr>
              <a:t>Stateful Multi-Agent Application Framework</a:t>
            </a:r>
            <a:r>
              <a:rPr lang="en-IN" sz="1600" dirty="0">
                <a:latin typeface="Times New Roman" panose="02020603050405020304" pitchFamily="18" charset="0"/>
                <a:cs typeface="Times New Roman" panose="02020603050405020304" pitchFamily="18" charset="0"/>
              </a:rPr>
              <a:t>, 2024.</a:t>
            </a:r>
          </a:p>
          <a:p>
            <a:pPr marL="457200" indent="-457200" algn="just">
              <a:buFont typeface="+mj-lt"/>
              <a:buAutoNum type="arabicPeriod"/>
            </a:pPr>
            <a:r>
              <a:rPr lang="en-IN" sz="1600" dirty="0">
                <a:latin typeface="Times New Roman" panose="02020603050405020304" pitchFamily="18" charset="0"/>
                <a:cs typeface="Times New Roman" panose="02020603050405020304" pitchFamily="18" charset="0"/>
              </a:rPr>
              <a:t>J. Johnson, M. </a:t>
            </a:r>
            <a:r>
              <a:rPr lang="en-IN" sz="1600" dirty="0" err="1">
                <a:latin typeface="Times New Roman" panose="02020603050405020304" pitchFamily="18" charset="0"/>
                <a:cs typeface="Times New Roman" panose="02020603050405020304" pitchFamily="18" charset="0"/>
              </a:rPr>
              <a:t>Douze</a:t>
            </a:r>
            <a:r>
              <a:rPr lang="en-IN" sz="1600" dirty="0">
                <a:latin typeface="Times New Roman" panose="02020603050405020304" pitchFamily="18" charset="0"/>
                <a:cs typeface="Times New Roman" panose="02020603050405020304" pitchFamily="18" charset="0"/>
              </a:rPr>
              <a:t>, and H. Jégou, </a:t>
            </a:r>
            <a:r>
              <a:rPr lang="en-IN" sz="1600" i="1" dirty="0">
                <a:latin typeface="Times New Roman" panose="02020603050405020304" pitchFamily="18" charset="0"/>
                <a:cs typeface="Times New Roman" panose="02020603050405020304" pitchFamily="18" charset="0"/>
              </a:rPr>
              <a:t>"Billion-Scale Similarity Search with GPUs,"</a:t>
            </a:r>
            <a:r>
              <a:rPr lang="en-IN" sz="1600" dirty="0">
                <a:latin typeface="Times New Roman" panose="02020603050405020304" pitchFamily="18" charset="0"/>
                <a:cs typeface="Times New Roman" panose="02020603050405020304" pitchFamily="18" charset="0"/>
              </a:rPr>
              <a:t> IEEE Transactions on Big Data, 2019.</a:t>
            </a:r>
          </a:p>
        </p:txBody>
      </p:sp>
    </p:spTree>
    <p:extLst>
      <p:ext uri="{BB962C8B-B14F-4D97-AF65-F5344CB8AC3E}">
        <p14:creationId xmlns:p14="http://schemas.microsoft.com/office/powerpoint/2010/main" val="1693542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8572</TotalTime>
  <Words>1165</Words>
  <Application>Microsoft Office PowerPoint</Application>
  <PresentationFormat>Widescreen</PresentationFormat>
  <Paragraphs>116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Times New Roman</vt:lpstr>
      <vt:lpstr>Times New Roman Bold</vt:lpstr>
      <vt:lpstr>Office Theme</vt:lpstr>
      <vt:lpstr>PowerPoint Presentation</vt:lpstr>
      <vt:lpstr>Contents </vt:lpstr>
      <vt:lpstr>Introduction</vt:lpstr>
      <vt:lpstr>Problem Statement</vt:lpstr>
      <vt:lpstr>Literature Review </vt:lpstr>
      <vt:lpstr>Research Gaps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Arundhati Das</dc:creator>
  <cp:lastModifiedBy>Riya Chaurasiya</cp:lastModifiedBy>
  <cp:revision>20</cp:revision>
  <dcterms:created xsi:type="dcterms:W3CDTF">2025-07-29T16:55:35Z</dcterms:created>
  <dcterms:modified xsi:type="dcterms:W3CDTF">2026-08-03T15:51:32Z</dcterms:modified>
</cp:coreProperties>
</file>